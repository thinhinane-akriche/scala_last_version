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8" r:id="rId3"/>
    <p:sldId id="271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70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EAE84"/>
    <a:srgbClr val="DBC4A5"/>
    <a:srgbClr val="FAEEDA"/>
    <a:srgbClr val="EEED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0" d="100"/>
          <a:sy n="60" d="100"/>
        </p:scale>
        <p:origin x="884" y="1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69891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537774-A45C-B7D9-AE16-42C710AF2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6E50F8-178C-1316-62A8-D052E50EB2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CFBFC0-DF65-5493-94DC-EAF0449F53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3BD85E-6368-7678-5356-6F363CC282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114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0454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914400"/>
            <a:ext cx="3657600" cy="3657600"/>
          </a:xfrm>
          <a:prstGeom prst="ellipse">
            <a:avLst/>
          </a:prstGeom>
          <a:solidFill>
            <a:srgbClr val="065A82">
              <a:alpha val="60000"/>
            </a:srgbClr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10515600" y="4114800"/>
            <a:ext cx="2743200" cy="2743200"/>
          </a:xfrm>
          <a:prstGeom prst="ellipse">
            <a:avLst/>
          </a:prstGeom>
          <a:solidFill>
            <a:srgbClr val="1C7293">
              <a:alpha val="40000"/>
            </a:srgbClr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-457200" y="5029200"/>
            <a:ext cx="2286000" cy="2286000"/>
          </a:xfrm>
          <a:prstGeom prst="ellipse">
            <a:avLst/>
          </a:prstGeom>
          <a:solidFill>
            <a:srgbClr val="4A90E2">
              <a:alpha val="30000"/>
            </a:srgbClr>
          </a:solidFill>
          <a:ln w="12700">
            <a:solidFill>
              <a:srgbClr val="4A90E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Image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731520" y="265176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4A9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731520" y="3840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B8C5D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Classification d'images meteo par deep learning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31520" y="4633108"/>
            <a:ext cx="1097280" cy="45720"/>
          </a:xfrm>
          <a:prstGeom prst="rect">
            <a:avLst/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731520" y="484632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4A90E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MODULE SCALA</a:t>
            </a:r>
            <a:endParaRPr lang="en-US" sz="11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Prof. MOUDOUB Yidhir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6217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6B7B8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2026</a:t>
            </a:r>
            <a:endParaRPr lang="en-US" sz="1100" dirty="0"/>
          </a:p>
        </p:txBody>
      </p:sp>
      <p:sp>
        <p:nvSpPr>
          <p:cNvPr id="5" name="Text 8">
            <a:extLst>
              <a:ext uri="{FF2B5EF4-FFF2-40B4-BE49-F238E27FC236}">
                <a16:creationId xmlns:a16="http://schemas.microsoft.com/office/drawing/2014/main" id="{086B624F-5C69-6C4A-19D1-893E0FB79FA0}"/>
              </a:ext>
            </a:extLst>
          </p:cNvPr>
          <p:cNvSpPr/>
          <p:nvPr/>
        </p:nvSpPr>
        <p:spPr>
          <a:xfrm>
            <a:off x="731520" y="5734714"/>
            <a:ext cx="677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Khaoula CHETIOUI     </a:t>
            </a:r>
            <a:r>
              <a:rPr lang="en-US" sz="1200" dirty="0" err="1">
                <a:solidFill>
                  <a:schemeClr val="bg1"/>
                </a:solidFill>
              </a:rPr>
              <a:t>Thinhinane</a:t>
            </a:r>
            <a:r>
              <a:rPr lang="en-US" sz="1200" dirty="0">
                <a:solidFill>
                  <a:schemeClr val="bg1"/>
                </a:solidFill>
              </a:rPr>
              <a:t> AKRICHE    Sirine HAMICHE     </a:t>
            </a:r>
            <a:r>
              <a:rPr lang="en-US" sz="1200" dirty="0" err="1">
                <a:solidFill>
                  <a:schemeClr val="bg1"/>
                </a:solidFill>
              </a:rPr>
              <a:t>Younès</a:t>
            </a:r>
            <a:r>
              <a:rPr lang="en-US" sz="1200" dirty="0">
                <a:solidFill>
                  <a:schemeClr val="bg1"/>
                </a:solidFill>
              </a:rPr>
              <a:t> MEZIANI       </a:t>
            </a:r>
            <a:r>
              <a:rPr lang="en-US" sz="1200" dirty="0" err="1">
                <a:solidFill>
                  <a:schemeClr val="bg1"/>
                </a:solidFill>
              </a:rPr>
              <a:t>Oladé</a:t>
            </a:r>
            <a:r>
              <a:rPr lang="en-US" sz="1200" dirty="0">
                <a:solidFill>
                  <a:schemeClr val="bg1"/>
                </a:solidFill>
              </a:rPr>
              <a:t> LAOUROU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0">
            <a:extLst>
              <a:ext uri="{FF2B5EF4-FFF2-40B4-BE49-F238E27FC236}">
                <a16:creationId xmlns:a16="http://schemas.microsoft.com/office/drawing/2014/main" id="{2A0DF46D-03CD-4774-971F-00F2765A9E44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">
            <a:extLst>
              <a:ext uri="{FF2B5EF4-FFF2-40B4-BE49-F238E27FC236}">
                <a16:creationId xmlns:a16="http://schemas.microsoft.com/office/drawing/2014/main" id="{4ACCD5F6-E3FE-4560-B06D-476BB74F95C4}"/>
              </a:ext>
            </a:extLst>
          </p:cNvPr>
          <p:cNvSpPr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et contexte</a:t>
            </a:r>
            <a:endParaRPr lang="en-US" sz="3000" dirty="0"/>
          </a:p>
        </p:txBody>
      </p:sp>
      <p:sp>
        <p:nvSpPr>
          <p:cNvPr id="21" name="Text 2">
            <a:extLst>
              <a:ext uri="{FF2B5EF4-FFF2-40B4-BE49-F238E27FC236}">
                <a16:creationId xmlns:a16="http://schemas.microsoft.com/office/drawing/2014/main" id="{CE81C937-E076-44DF-9AAC-131536B27DF9}"/>
              </a:ext>
            </a:extLst>
          </p:cNvPr>
          <p:cNvSpPr/>
          <p:nvPr/>
        </p:nvSpPr>
        <p:spPr>
          <a:xfrm>
            <a:off x="11338560" y="3200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Shape 3">
            <a:extLst>
              <a:ext uri="{FF2B5EF4-FFF2-40B4-BE49-F238E27FC236}">
                <a16:creationId xmlns:a16="http://schemas.microsoft.com/office/drawing/2014/main" id="{074BFDF0-41B0-4F08-A590-41FE2D709997}"/>
              </a:ext>
            </a:extLst>
          </p:cNvPr>
          <p:cNvSpPr/>
          <p:nvPr/>
        </p:nvSpPr>
        <p:spPr>
          <a:xfrm>
            <a:off x="548640" y="1005840"/>
            <a:ext cx="73152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4">
            <a:extLst>
              <a:ext uri="{FF2B5EF4-FFF2-40B4-BE49-F238E27FC236}">
                <a16:creationId xmlns:a16="http://schemas.microsoft.com/office/drawing/2014/main" id="{37A1D0C8-00E0-436A-8A3A-DBD4159F6197}"/>
              </a:ext>
            </a:extLst>
          </p:cNvPr>
          <p:cNvSpPr/>
          <p:nvPr/>
        </p:nvSpPr>
        <p:spPr>
          <a:xfrm>
            <a:off x="731520" y="12801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du projet</a:t>
            </a:r>
            <a:endParaRPr lang="en-US" sz="2000" dirty="0"/>
          </a:p>
        </p:txBody>
      </p:sp>
      <p:sp>
        <p:nvSpPr>
          <p:cNvPr id="24" name="Text 5">
            <a:extLst>
              <a:ext uri="{FF2B5EF4-FFF2-40B4-BE49-F238E27FC236}">
                <a16:creationId xmlns:a16="http://schemas.microsoft.com/office/drawing/2014/main" id="{C5644932-EC19-40D7-8010-63BF006ECCFF}"/>
              </a:ext>
            </a:extLst>
          </p:cNvPr>
          <p:cNvSpPr/>
          <p:nvPr/>
        </p:nvSpPr>
        <p:spPr>
          <a:xfrm>
            <a:off x="731520" y="173736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Construire une application Big Data complete qui identifie automatiquement le type de meteo a partir d'une image, en utilisant Scala, Spark et le deep learning.</a:t>
            </a:r>
            <a:endParaRPr lang="en-US" sz="1500" dirty="0"/>
          </a:p>
        </p:txBody>
      </p:sp>
      <p:sp>
        <p:nvSpPr>
          <p:cNvPr id="25" name="Text 6">
            <a:extLst>
              <a:ext uri="{FF2B5EF4-FFF2-40B4-BE49-F238E27FC236}">
                <a16:creationId xmlns:a16="http://schemas.microsoft.com/office/drawing/2014/main" id="{1BE4E563-3042-4DE7-A21B-B03A03A3C59B}"/>
              </a:ext>
            </a:extLst>
          </p:cNvPr>
          <p:cNvSpPr/>
          <p:nvPr/>
        </p:nvSpPr>
        <p:spPr>
          <a:xfrm>
            <a:off x="731520" y="28346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Exemples du dataset</a:t>
            </a:r>
            <a:endParaRPr lang="en-US" sz="2000" dirty="0"/>
          </a:p>
        </p:txBody>
      </p:sp>
      <p:sp>
        <p:nvSpPr>
          <p:cNvPr id="26" name="Shape 7">
            <a:extLst>
              <a:ext uri="{FF2B5EF4-FFF2-40B4-BE49-F238E27FC236}">
                <a16:creationId xmlns:a16="http://schemas.microsoft.com/office/drawing/2014/main" id="{1A7FF97B-EF08-49CF-A2FD-8D76ACF64FB3}"/>
              </a:ext>
            </a:extLst>
          </p:cNvPr>
          <p:cNvSpPr/>
          <p:nvPr/>
        </p:nvSpPr>
        <p:spPr>
          <a:xfrm>
            <a:off x="685800" y="3246120"/>
            <a:ext cx="14173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27" name="Image 0" descr="/home/claude/img_dew.jpg">
            <a:extLst>
              <a:ext uri="{FF2B5EF4-FFF2-40B4-BE49-F238E27FC236}">
                <a16:creationId xmlns:a16="http://schemas.microsoft.com/office/drawing/2014/main" id="{4EC3EAAC-E630-495A-B17E-9245115D246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1520" y="3291840"/>
            <a:ext cx="1325880" cy="1005840"/>
          </a:xfrm>
          <a:prstGeom prst="rect">
            <a:avLst/>
          </a:prstGeom>
        </p:spPr>
      </p:pic>
      <p:sp>
        <p:nvSpPr>
          <p:cNvPr id="28" name="Text 8">
            <a:extLst>
              <a:ext uri="{FF2B5EF4-FFF2-40B4-BE49-F238E27FC236}">
                <a16:creationId xmlns:a16="http://schemas.microsoft.com/office/drawing/2014/main" id="{2CF5EFC6-348B-4CA0-A883-0AF441AEDA67}"/>
              </a:ext>
            </a:extLst>
          </p:cNvPr>
          <p:cNvSpPr/>
          <p:nvPr/>
        </p:nvSpPr>
        <p:spPr>
          <a:xfrm>
            <a:off x="685800" y="43891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dew</a:t>
            </a:r>
            <a:endParaRPr lang="en-US" sz="1200" dirty="0"/>
          </a:p>
        </p:txBody>
      </p:sp>
      <p:sp>
        <p:nvSpPr>
          <p:cNvPr id="29" name="Shape 9">
            <a:extLst>
              <a:ext uri="{FF2B5EF4-FFF2-40B4-BE49-F238E27FC236}">
                <a16:creationId xmlns:a16="http://schemas.microsoft.com/office/drawing/2014/main" id="{EEF74139-2690-44B0-8073-471318435D36}"/>
              </a:ext>
            </a:extLst>
          </p:cNvPr>
          <p:cNvSpPr/>
          <p:nvPr/>
        </p:nvSpPr>
        <p:spPr>
          <a:xfrm>
            <a:off x="2148840" y="3246120"/>
            <a:ext cx="14173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30" name="Image 1" descr="/home/claude/img_lightning.jpg">
            <a:extLst>
              <a:ext uri="{FF2B5EF4-FFF2-40B4-BE49-F238E27FC236}">
                <a16:creationId xmlns:a16="http://schemas.microsoft.com/office/drawing/2014/main" id="{78959158-3B4F-414B-A8C3-ECC604B96E3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194560" y="3291840"/>
            <a:ext cx="1325880" cy="1005840"/>
          </a:xfrm>
          <a:prstGeom prst="rect">
            <a:avLst/>
          </a:prstGeom>
        </p:spPr>
      </p:pic>
      <p:sp>
        <p:nvSpPr>
          <p:cNvPr id="31" name="Text 10">
            <a:extLst>
              <a:ext uri="{FF2B5EF4-FFF2-40B4-BE49-F238E27FC236}">
                <a16:creationId xmlns:a16="http://schemas.microsoft.com/office/drawing/2014/main" id="{686F3AE5-446E-4EAF-8FA0-2B122466823D}"/>
              </a:ext>
            </a:extLst>
          </p:cNvPr>
          <p:cNvSpPr/>
          <p:nvPr/>
        </p:nvSpPr>
        <p:spPr>
          <a:xfrm>
            <a:off x="2148840" y="43891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lightning</a:t>
            </a:r>
            <a:endParaRPr lang="en-US" sz="1200" dirty="0"/>
          </a:p>
        </p:txBody>
      </p:sp>
      <p:sp>
        <p:nvSpPr>
          <p:cNvPr id="32" name="Shape 11">
            <a:extLst>
              <a:ext uri="{FF2B5EF4-FFF2-40B4-BE49-F238E27FC236}">
                <a16:creationId xmlns:a16="http://schemas.microsoft.com/office/drawing/2014/main" id="{3BCFA8CF-20A5-43A5-82F3-F2F8EF809D47}"/>
              </a:ext>
            </a:extLst>
          </p:cNvPr>
          <p:cNvSpPr/>
          <p:nvPr/>
        </p:nvSpPr>
        <p:spPr>
          <a:xfrm>
            <a:off x="3611880" y="3246120"/>
            <a:ext cx="14173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33" name="Image 2" descr="/home/claude/img_rime.jpg">
            <a:extLst>
              <a:ext uri="{FF2B5EF4-FFF2-40B4-BE49-F238E27FC236}">
                <a16:creationId xmlns:a16="http://schemas.microsoft.com/office/drawing/2014/main" id="{78E155E2-DF43-4514-BBCA-9E2D3C96216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657600" y="3291840"/>
            <a:ext cx="1325880" cy="1005840"/>
          </a:xfrm>
          <a:prstGeom prst="rect">
            <a:avLst/>
          </a:prstGeom>
        </p:spPr>
      </p:pic>
      <p:sp>
        <p:nvSpPr>
          <p:cNvPr id="34" name="Text 12">
            <a:extLst>
              <a:ext uri="{FF2B5EF4-FFF2-40B4-BE49-F238E27FC236}">
                <a16:creationId xmlns:a16="http://schemas.microsoft.com/office/drawing/2014/main" id="{E7B54E1A-4395-4CDE-B430-D4234336C659}"/>
              </a:ext>
            </a:extLst>
          </p:cNvPr>
          <p:cNvSpPr/>
          <p:nvPr/>
        </p:nvSpPr>
        <p:spPr>
          <a:xfrm>
            <a:off x="3611880" y="43891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rime</a:t>
            </a:r>
            <a:endParaRPr lang="en-US" sz="1200" dirty="0"/>
          </a:p>
        </p:txBody>
      </p:sp>
      <p:sp>
        <p:nvSpPr>
          <p:cNvPr id="35" name="Shape 13">
            <a:extLst>
              <a:ext uri="{FF2B5EF4-FFF2-40B4-BE49-F238E27FC236}">
                <a16:creationId xmlns:a16="http://schemas.microsoft.com/office/drawing/2014/main" id="{63581DCB-2627-45EC-A5A1-689F86F113AE}"/>
              </a:ext>
            </a:extLst>
          </p:cNvPr>
          <p:cNvSpPr/>
          <p:nvPr/>
        </p:nvSpPr>
        <p:spPr>
          <a:xfrm>
            <a:off x="5074920" y="3246120"/>
            <a:ext cx="14173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36" name="Image 3" descr="/home/claude/img_sandstorm.jpg">
            <a:extLst>
              <a:ext uri="{FF2B5EF4-FFF2-40B4-BE49-F238E27FC236}">
                <a16:creationId xmlns:a16="http://schemas.microsoft.com/office/drawing/2014/main" id="{5E7C4CC8-E00A-4E49-B9D4-940941FC581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120640" y="3291840"/>
            <a:ext cx="1325880" cy="1005840"/>
          </a:xfrm>
          <a:prstGeom prst="rect">
            <a:avLst/>
          </a:prstGeom>
        </p:spPr>
      </p:pic>
      <p:sp>
        <p:nvSpPr>
          <p:cNvPr id="37" name="Text 14">
            <a:extLst>
              <a:ext uri="{FF2B5EF4-FFF2-40B4-BE49-F238E27FC236}">
                <a16:creationId xmlns:a16="http://schemas.microsoft.com/office/drawing/2014/main" id="{FF5DC0D6-AE40-457E-9FCC-1C05D9C18EBA}"/>
              </a:ext>
            </a:extLst>
          </p:cNvPr>
          <p:cNvSpPr/>
          <p:nvPr/>
        </p:nvSpPr>
        <p:spPr>
          <a:xfrm>
            <a:off x="5074920" y="43891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sandstorm</a:t>
            </a:r>
            <a:endParaRPr lang="en-US" sz="1200" dirty="0"/>
          </a:p>
        </p:txBody>
      </p:sp>
      <p:sp>
        <p:nvSpPr>
          <p:cNvPr id="38" name="Shape 15">
            <a:extLst>
              <a:ext uri="{FF2B5EF4-FFF2-40B4-BE49-F238E27FC236}">
                <a16:creationId xmlns:a16="http://schemas.microsoft.com/office/drawing/2014/main" id="{DF85B180-45DB-4B35-93BF-894ACB4277CB}"/>
              </a:ext>
            </a:extLst>
          </p:cNvPr>
          <p:cNvSpPr/>
          <p:nvPr/>
        </p:nvSpPr>
        <p:spPr>
          <a:xfrm>
            <a:off x="7498080" y="1280160"/>
            <a:ext cx="402336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9" name="Shape 16">
            <a:extLst>
              <a:ext uri="{FF2B5EF4-FFF2-40B4-BE49-F238E27FC236}">
                <a16:creationId xmlns:a16="http://schemas.microsoft.com/office/drawing/2014/main" id="{90F08EAA-6D63-4E61-988B-F92A6D7BDBCC}"/>
              </a:ext>
            </a:extLst>
          </p:cNvPr>
          <p:cNvSpPr/>
          <p:nvPr/>
        </p:nvSpPr>
        <p:spPr>
          <a:xfrm>
            <a:off x="7498080" y="1280160"/>
            <a:ext cx="4023360" cy="1371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Text 17">
            <a:extLst>
              <a:ext uri="{FF2B5EF4-FFF2-40B4-BE49-F238E27FC236}">
                <a16:creationId xmlns:a16="http://schemas.microsoft.com/office/drawing/2014/main" id="{F9FFBFD0-09B4-49B2-BE5D-93BF762EBD67}"/>
              </a:ext>
            </a:extLst>
          </p:cNvPr>
          <p:cNvSpPr/>
          <p:nvPr/>
        </p:nvSpPr>
        <p:spPr>
          <a:xfrm>
            <a:off x="7772400" y="1600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 DATASET</a:t>
            </a:r>
            <a:endParaRPr lang="en-US" sz="1100" dirty="0"/>
          </a:p>
        </p:txBody>
      </p:sp>
      <p:sp>
        <p:nvSpPr>
          <p:cNvPr id="41" name="Text 18">
            <a:extLst>
              <a:ext uri="{FF2B5EF4-FFF2-40B4-BE49-F238E27FC236}">
                <a16:creationId xmlns:a16="http://schemas.microsoft.com/office/drawing/2014/main" id="{31EFA511-A612-4780-829F-6205E4BB99C9}"/>
              </a:ext>
            </a:extLst>
          </p:cNvPr>
          <p:cNvSpPr/>
          <p:nvPr/>
        </p:nvSpPr>
        <p:spPr>
          <a:xfrm>
            <a:off x="7772400" y="19202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Weather Dataset</a:t>
            </a:r>
            <a:endParaRPr lang="en-US" sz="2000" dirty="0"/>
          </a:p>
        </p:txBody>
      </p:sp>
      <p:sp>
        <p:nvSpPr>
          <p:cNvPr id="42" name="Text 19">
            <a:extLst>
              <a:ext uri="{FF2B5EF4-FFF2-40B4-BE49-F238E27FC236}">
                <a16:creationId xmlns:a16="http://schemas.microsoft.com/office/drawing/2014/main" id="{9B2D72B4-6486-471C-88D9-9B16C5CC0170}"/>
              </a:ext>
            </a:extLst>
          </p:cNvPr>
          <p:cNvSpPr/>
          <p:nvPr/>
        </p:nvSpPr>
        <p:spPr>
          <a:xfrm>
            <a:off x="7772400" y="2468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6 862</a:t>
            </a:r>
            <a:endParaRPr lang="en-US" sz="5200" dirty="0"/>
          </a:p>
        </p:txBody>
      </p:sp>
      <p:sp>
        <p:nvSpPr>
          <p:cNvPr id="43" name="Text 20">
            <a:extLst>
              <a:ext uri="{FF2B5EF4-FFF2-40B4-BE49-F238E27FC236}">
                <a16:creationId xmlns:a16="http://schemas.microsoft.com/office/drawing/2014/main" id="{B323F839-DF46-4EB0-ADD6-00AC9B5AE343}"/>
              </a:ext>
            </a:extLst>
          </p:cNvPr>
          <p:cNvSpPr/>
          <p:nvPr/>
        </p:nvSpPr>
        <p:spPr>
          <a:xfrm>
            <a:off x="7772400" y="3246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images labellisees</a:t>
            </a:r>
            <a:endParaRPr lang="en-US" sz="1300" dirty="0"/>
          </a:p>
        </p:txBody>
      </p:sp>
      <p:sp>
        <p:nvSpPr>
          <p:cNvPr id="44" name="Shape 21">
            <a:extLst>
              <a:ext uri="{FF2B5EF4-FFF2-40B4-BE49-F238E27FC236}">
                <a16:creationId xmlns:a16="http://schemas.microsoft.com/office/drawing/2014/main" id="{EADB270E-6BD2-4C1C-9593-CC022648752E}"/>
              </a:ext>
            </a:extLst>
          </p:cNvPr>
          <p:cNvSpPr/>
          <p:nvPr/>
        </p:nvSpPr>
        <p:spPr>
          <a:xfrm>
            <a:off x="7772400" y="3657600"/>
            <a:ext cx="347472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5" name="Text 22">
            <a:extLst>
              <a:ext uri="{FF2B5EF4-FFF2-40B4-BE49-F238E27FC236}">
                <a16:creationId xmlns:a16="http://schemas.microsoft.com/office/drawing/2014/main" id="{D7FE7EF6-F717-420B-BD6F-ED3B65B298E2}"/>
              </a:ext>
            </a:extLst>
          </p:cNvPr>
          <p:cNvSpPr/>
          <p:nvPr/>
        </p:nvSpPr>
        <p:spPr>
          <a:xfrm>
            <a:off x="7772400" y="3794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classes meteo</a:t>
            </a:r>
            <a:endParaRPr lang="en-US" sz="1400" dirty="0"/>
          </a:p>
        </p:txBody>
      </p:sp>
      <p:sp>
        <p:nvSpPr>
          <p:cNvPr id="46" name="Text 23">
            <a:extLst>
              <a:ext uri="{FF2B5EF4-FFF2-40B4-BE49-F238E27FC236}">
                <a16:creationId xmlns:a16="http://schemas.microsoft.com/office/drawing/2014/main" id="{87C0B924-002F-4EDB-84AA-2E14AD050271}"/>
              </a:ext>
            </a:extLst>
          </p:cNvPr>
          <p:cNvSpPr/>
          <p:nvPr/>
        </p:nvSpPr>
        <p:spPr>
          <a:xfrm>
            <a:off x="7772400" y="416052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dew, fogsmog, frost, glaze, hail, lightning, rain, rainbow, rime, sandstorm, snow</a:t>
            </a:r>
            <a:endParaRPr lang="en-US" sz="1200" dirty="0"/>
          </a:p>
        </p:txBody>
      </p:sp>
      <p:sp>
        <p:nvSpPr>
          <p:cNvPr id="47" name="Text 24">
            <a:extLst>
              <a:ext uri="{FF2B5EF4-FFF2-40B4-BE49-F238E27FC236}">
                <a16:creationId xmlns:a16="http://schemas.microsoft.com/office/drawing/2014/main" id="{AC09D31D-BEC7-4DB2-AB4F-0CA1906D8F38}"/>
              </a:ext>
            </a:extLst>
          </p:cNvPr>
          <p:cNvSpPr/>
          <p:nvPr/>
        </p:nvSpPr>
        <p:spPr>
          <a:xfrm>
            <a:off x="7772400" y="5760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Source : jehanbhathena/weather-dataset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613B99-24A0-D9EE-DAE0-80B51BBB4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367EB93-B182-CC96-B105-FF40D867C9EC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40B87F3-DB2E-B9C1-33A8-816E90C35A05}"/>
              </a:ext>
            </a:extLst>
          </p:cNvPr>
          <p:cNvSpPr/>
          <p:nvPr/>
        </p:nvSpPr>
        <p:spPr>
          <a:xfrm>
            <a:off x="548640" y="38862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du projet</a:t>
            </a:r>
            <a:endParaRPr lang="en-US" sz="3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5957B89-BFC8-3176-DE87-8D29649D676C}"/>
              </a:ext>
            </a:extLst>
          </p:cNvPr>
          <p:cNvSpPr/>
          <p:nvPr/>
        </p:nvSpPr>
        <p:spPr>
          <a:xfrm>
            <a:off x="11338560" y="3200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</a:t>
            </a:r>
            <a:endParaRPr lang="en-US" sz="14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47396CCF-C852-DC62-3FBD-88105ACEE511}"/>
              </a:ext>
            </a:extLst>
          </p:cNvPr>
          <p:cNvSpPr/>
          <p:nvPr/>
        </p:nvSpPr>
        <p:spPr>
          <a:xfrm>
            <a:off x="548640" y="660654"/>
            <a:ext cx="73152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grpSp>
        <p:nvGrpSpPr>
          <p:cNvPr id="36" name="Groupe 35">
            <a:extLst>
              <a:ext uri="{FF2B5EF4-FFF2-40B4-BE49-F238E27FC236}">
                <a16:creationId xmlns:a16="http://schemas.microsoft.com/office/drawing/2014/main" id="{947F5AF9-945A-204B-DCBF-B150FE92AC5F}"/>
              </a:ext>
            </a:extLst>
          </p:cNvPr>
          <p:cNvGrpSpPr/>
          <p:nvPr/>
        </p:nvGrpSpPr>
        <p:grpSpPr>
          <a:xfrm>
            <a:off x="576321" y="990253"/>
            <a:ext cx="7315200" cy="4873752"/>
            <a:chOff x="4114800" y="1280160"/>
            <a:chExt cx="7315200" cy="4873752"/>
          </a:xfrm>
        </p:grpSpPr>
        <p:sp>
          <p:nvSpPr>
            <p:cNvPr id="7" name="Text 4">
              <a:extLst>
                <a:ext uri="{FF2B5EF4-FFF2-40B4-BE49-F238E27FC236}">
                  <a16:creationId xmlns:a16="http://schemas.microsoft.com/office/drawing/2014/main" id="{BD52A5A8-4C65-12A0-68D3-E6DA3F01F91D}"/>
                </a:ext>
              </a:extLst>
            </p:cNvPr>
            <p:cNvSpPr/>
            <p:nvPr/>
          </p:nvSpPr>
          <p:spPr>
            <a:xfrm>
              <a:off x="4114800" y="1280160"/>
              <a:ext cx="73152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200" b="1" dirty="0">
                  <a:solidFill>
                    <a:srgbClr val="065A8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Pipeline en 6 composants</a:t>
              </a:r>
              <a:endParaRPr lang="en-US" sz="2200" dirty="0"/>
            </a:p>
          </p:txBody>
        </p:sp>
        <p:sp>
          <p:nvSpPr>
            <p:cNvPr id="8" name="Shape 5">
              <a:extLst>
                <a:ext uri="{FF2B5EF4-FFF2-40B4-BE49-F238E27FC236}">
                  <a16:creationId xmlns:a16="http://schemas.microsoft.com/office/drawing/2014/main" id="{8E879801-A6EE-94CA-F651-DDBBCD329B65}"/>
                </a:ext>
              </a:extLst>
            </p:cNvPr>
            <p:cNvSpPr/>
            <p:nvPr/>
          </p:nvSpPr>
          <p:spPr>
            <a:xfrm>
              <a:off x="4114800" y="1920240"/>
              <a:ext cx="457200" cy="457200"/>
            </a:xfrm>
            <a:prstGeom prst="ellipse">
              <a:avLst/>
            </a:prstGeom>
            <a:solidFill>
              <a:srgbClr val="1C7293"/>
            </a:solidFill>
            <a:ln w="12700">
              <a:solidFill>
                <a:srgbClr val="1C7293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9" name="Text 6">
              <a:extLst>
                <a:ext uri="{FF2B5EF4-FFF2-40B4-BE49-F238E27FC236}">
                  <a16:creationId xmlns:a16="http://schemas.microsoft.com/office/drawing/2014/main" id="{5E45E234-FD6F-34A8-E1C1-7EC4E5829735}"/>
                </a:ext>
              </a:extLst>
            </p:cNvPr>
            <p:cNvSpPr/>
            <p:nvPr/>
          </p:nvSpPr>
          <p:spPr>
            <a:xfrm>
              <a:off x="4114800" y="1920240"/>
              <a:ext cx="4572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</a:t>
              </a:r>
              <a:endParaRPr lang="en-US" sz="1500" dirty="0"/>
            </a:p>
          </p:txBody>
        </p:sp>
        <p:sp>
          <p:nvSpPr>
            <p:cNvPr id="10" name="Text 7">
              <a:extLst>
                <a:ext uri="{FF2B5EF4-FFF2-40B4-BE49-F238E27FC236}">
                  <a16:creationId xmlns:a16="http://schemas.microsoft.com/office/drawing/2014/main" id="{46625676-452F-D9DC-3D0E-C63782001FAF}"/>
                </a:ext>
              </a:extLst>
            </p:cNvPr>
            <p:cNvSpPr/>
            <p:nvPr/>
          </p:nvSpPr>
          <p:spPr>
            <a:xfrm>
              <a:off x="4754880" y="1920240"/>
              <a:ext cx="6400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rgbClr val="0A1F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Microservice 1</a:t>
              </a:r>
              <a:endParaRPr lang="en-US" sz="1500" dirty="0"/>
            </a:p>
          </p:txBody>
        </p:sp>
        <p:sp>
          <p:nvSpPr>
            <p:cNvPr id="11" name="Text 8">
              <a:extLst>
                <a:ext uri="{FF2B5EF4-FFF2-40B4-BE49-F238E27FC236}">
                  <a16:creationId xmlns:a16="http://schemas.microsoft.com/office/drawing/2014/main" id="{34C4D5C4-453D-BF48-9BF6-4069884E7E18}"/>
                </a:ext>
              </a:extLst>
            </p:cNvPr>
            <p:cNvSpPr/>
            <p:nvPr/>
          </p:nvSpPr>
          <p:spPr>
            <a:xfrm>
              <a:off x="4754880" y="2176272"/>
              <a:ext cx="64008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64748B"/>
                  </a:solidFill>
                  <a:latin typeface="Calibri Light" pitchFamily="34" charset="0"/>
                  <a:ea typeface="Calibri Light" pitchFamily="34" charset="-122"/>
                  <a:cs typeface="Calibri Light" pitchFamily="34" charset="-120"/>
                </a:rPr>
                <a:t>Scala + Spark, </a:t>
              </a:r>
              <a:r>
                <a:rPr lang="en-US" sz="1200" dirty="0" err="1">
                  <a:solidFill>
                    <a:srgbClr val="64748B"/>
                  </a:solidFill>
                  <a:latin typeface="Calibri Light" pitchFamily="34" charset="0"/>
                  <a:ea typeface="Calibri Light" pitchFamily="34" charset="-122"/>
                  <a:cs typeface="Calibri Light" pitchFamily="34" charset="-120"/>
                </a:rPr>
                <a:t>pretraitement</a:t>
              </a:r>
              <a:r>
                <a:rPr lang="en-US" sz="1200" dirty="0">
                  <a:solidFill>
                    <a:srgbClr val="64748B"/>
                  </a:solidFill>
                  <a:latin typeface="Calibri Light" pitchFamily="34" charset="0"/>
                  <a:ea typeface="Calibri Light" pitchFamily="34" charset="-122"/>
                  <a:cs typeface="Calibri Light" pitchFamily="34" charset="-120"/>
                </a:rPr>
                <a:t>, image 224 x 224</a:t>
              </a:r>
              <a:endParaRPr lang="en-US" sz="1200" dirty="0"/>
            </a:p>
          </p:txBody>
        </p:sp>
        <p:sp>
          <p:nvSpPr>
            <p:cNvPr id="12" name="Shape 9">
              <a:extLst>
                <a:ext uri="{FF2B5EF4-FFF2-40B4-BE49-F238E27FC236}">
                  <a16:creationId xmlns:a16="http://schemas.microsoft.com/office/drawing/2014/main" id="{7F796756-A7B2-6A46-2838-FA0FE858C402}"/>
                </a:ext>
              </a:extLst>
            </p:cNvPr>
            <p:cNvSpPr/>
            <p:nvPr/>
          </p:nvSpPr>
          <p:spPr>
            <a:xfrm>
              <a:off x="4114800" y="2670048"/>
              <a:ext cx="457200" cy="457200"/>
            </a:xfrm>
            <a:prstGeom prst="ellipse">
              <a:avLst/>
            </a:prstGeom>
            <a:solidFill>
              <a:srgbClr val="64748B"/>
            </a:solidFill>
            <a:ln w="12700">
              <a:solidFill>
                <a:srgbClr val="64748B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3" name="Text 10">
              <a:extLst>
                <a:ext uri="{FF2B5EF4-FFF2-40B4-BE49-F238E27FC236}">
                  <a16:creationId xmlns:a16="http://schemas.microsoft.com/office/drawing/2014/main" id="{DC10F0A4-A245-75B8-D258-128108889803}"/>
                </a:ext>
              </a:extLst>
            </p:cNvPr>
            <p:cNvSpPr/>
            <p:nvPr/>
          </p:nvSpPr>
          <p:spPr>
            <a:xfrm>
              <a:off x="4114800" y="2670048"/>
              <a:ext cx="4572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</a:t>
              </a:r>
              <a:endParaRPr lang="en-US" sz="1500" dirty="0"/>
            </a:p>
          </p:txBody>
        </p:sp>
        <p:sp>
          <p:nvSpPr>
            <p:cNvPr id="14" name="Text 11">
              <a:extLst>
                <a:ext uri="{FF2B5EF4-FFF2-40B4-BE49-F238E27FC236}">
                  <a16:creationId xmlns:a16="http://schemas.microsoft.com/office/drawing/2014/main" id="{73152D94-F36D-6C88-11BC-A60B9AEC4636}"/>
                </a:ext>
              </a:extLst>
            </p:cNvPr>
            <p:cNvSpPr/>
            <p:nvPr/>
          </p:nvSpPr>
          <p:spPr>
            <a:xfrm>
              <a:off x="4754880" y="2670048"/>
              <a:ext cx="6400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rgbClr val="0A1F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weather.parquet</a:t>
              </a:r>
              <a:endParaRPr lang="en-US" sz="1500" dirty="0"/>
            </a:p>
          </p:txBody>
        </p:sp>
        <p:sp>
          <p:nvSpPr>
            <p:cNvPr id="15" name="Text 12">
              <a:extLst>
                <a:ext uri="{FF2B5EF4-FFF2-40B4-BE49-F238E27FC236}">
                  <a16:creationId xmlns:a16="http://schemas.microsoft.com/office/drawing/2014/main" id="{D6C53877-CA16-2F3E-F3CB-163EA6164A3D}"/>
                </a:ext>
              </a:extLst>
            </p:cNvPr>
            <p:cNvSpPr/>
            <p:nvPr/>
          </p:nvSpPr>
          <p:spPr>
            <a:xfrm>
              <a:off x="4754880" y="2926080"/>
              <a:ext cx="64008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64748B"/>
                  </a:solidFill>
                  <a:latin typeface="Calibri Light" pitchFamily="34" charset="0"/>
                  <a:ea typeface="Calibri Light" pitchFamily="34" charset="-122"/>
                  <a:cs typeface="Calibri Light" pitchFamily="34" charset="-120"/>
                </a:rPr>
                <a:t>6862 records, format Spark</a:t>
              </a:r>
              <a:endParaRPr lang="en-US" sz="1200" dirty="0"/>
            </a:p>
          </p:txBody>
        </p:sp>
        <p:sp>
          <p:nvSpPr>
            <p:cNvPr id="16" name="Shape 13">
              <a:extLst>
                <a:ext uri="{FF2B5EF4-FFF2-40B4-BE49-F238E27FC236}">
                  <a16:creationId xmlns:a16="http://schemas.microsoft.com/office/drawing/2014/main" id="{2EA955AE-139F-EBFE-9567-7D55EA7CE46C}"/>
                </a:ext>
              </a:extLst>
            </p:cNvPr>
            <p:cNvSpPr/>
            <p:nvPr/>
          </p:nvSpPr>
          <p:spPr>
            <a:xfrm>
              <a:off x="4114800" y="3419856"/>
              <a:ext cx="457200" cy="457200"/>
            </a:xfrm>
            <a:prstGeom prst="ellipse">
              <a:avLst/>
            </a:prstGeom>
            <a:solidFill>
              <a:srgbClr val="21295C"/>
            </a:solidFill>
            <a:ln w="12700">
              <a:solidFill>
                <a:srgbClr val="21295C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Text 14">
              <a:extLst>
                <a:ext uri="{FF2B5EF4-FFF2-40B4-BE49-F238E27FC236}">
                  <a16:creationId xmlns:a16="http://schemas.microsoft.com/office/drawing/2014/main" id="{0AD55516-6A9C-FB77-D097-C4932A844385}"/>
                </a:ext>
              </a:extLst>
            </p:cNvPr>
            <p:cNvSpPr/>
            <p:nvPr/>
          </p:nvSpPr>
          <p:spPr>
            <a:xfrm>
              <a:off x="4114800" y="3419856"/>
              <a:ext cx="4572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</a:t>
              </a:r>
              <a:endParaRPr lang="en-US" sz="1500" dirty="0"/>
            </a:p>
          </p:txBody>
        </p:sp>
        <p:sp>
          <p:nvSpPr>
            <p:cNvPr id="18" name="Text 15">
              <a:extLst>
                <a:ext uri="{FF2B5EF4-FFF2-40B4-BE49-F238E27FC236}">
                  <a16:creationId xmlns:a16="http://schemas.microsoft.com/office/drawing/2014/main" id="{5CAC286C-6C4D-837D-9E8F-D017E7847050}"/>
                </a:ext>
              </a:extLst>
            </p:cNvPr>
            <p:cNvSpPr/>
            <p:nvPr/>
          </p:nvSpPr>
          <p:spPr>
            <a:xfrm>
              <a:off x="4754880" y="3419856"/>
              <a:ext cx="6400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rgbClr val="0A1F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Notebook Python</a:t>
              </a:r>
              <a:endParaRPr lang="en-US" sz="1500" dirty="0"/>
            </a:p>
          </p:txBody>
        </p:sp>
        <p:sp>
          <p:nvSpPr>
            <p:cNvPr id="19" name="Text 16">
              <a:extLst>
                <a:ext uri="{FF2B5EF4-FFF2-40B4-BE49-F238E27FC236}">
                  <a16:creationId xmlns:a16="http://schemas.microsoft.com/office/drawing/2014/main" id="{ECEC99C2-FF76-EA45-7C83-430E1058A96F}"/>
                </a:ext>
              </a:extLst>
            </p:cNvPr>
            <p:cNvSpPr/>
            <p:nvPr/>
          </p:nvSpPr>
          <p:spPr>
            <a:xfrm>
              <a:off x="4754880" y="3675888"/>
              <a:ext cx="64008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64748B"/>
                  </a:solidFill>
                  <a:latin typeface="Calibri Light" pitchFamily="34" charset="0"/>
                  <a:ea typeface="Calibri Light" pitchFamily="34" charset="-122"/>
                  <a:cs typeface="Calibri Light" pitchFamily="34" charset="-120"/>
                </a:rPr>
                <a:t>ResNet50, accuracy 98%</a:t>
              </a:r>
              <a:endParaRPr lang="en-US" sz="1200" dirty="0"/>
            </a:p>
          </p:txBody>
        </p:sp>
        <p:sp>
          <p:nvSpPr>
            <p:cNvPr id="20" name="Shape 17">
              <a:extLst>
                <a:ext uri="{FF2B5EF4-FFF2-40B4-BE49-F238E27FC236}">
                  <a16:creationId xmlns:a16="http://schemas.microsoft.com/office/drawing/2014/main" id="{59734030-88A5-C628-D986-CFC8589185DE}"/>
                </a:ext>
              </a:extLst>
            </p:cNvPr>
            <p:cNvSpPr/>
            <p:nvPr/>
          </p:nvSpPr>
          <p:spPr>
            <a:xfrm>
              <a:off x="4114800" y="4169664"/>
              <a:ext cx="457200" cy="457200"/>
            </a:xfrm>
            <a:prstGeom prst="ellipse">
              <a:avLst/>
            </a:prstGeom>
            <a:solidFill>
              <a:srgbClr val="F59E0B"/>
            </a:solidFill>
            <a:ln w="12700">
              <a:solidFill>
                <a:srgbClr val="F59E0B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1" name="Text 18">
              <a:extLst>
                <a:ext uri="{FF2B5EF4-FFF2-40B4-BE49-F238E27FC236}">
                  <a16:creationId xmlns:a16="http://schemas.microsoft.com/office/drawing/2014/main" id="{CA307623-128D-28A4-5BB2-9C6C70F9A919}"/>
                </a:ext>
              </a:extLst>
            </p:cNvPr>
            <p:cNvSpPr/>
            <p:nvPr/>
          </p:nvSpPr>
          <p:spPr>
            <a:xfrm>
              <a:off x="4114800" y="4169664"/>
              <a:ext cx="4572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4</a:t>
              </a:r>
              <a:endParaRPr lang="en-US" sz="1500" dirty="0"/>
            </a:p>
          </p:txBody>
        </p:sp>
        <p:sp>
          <p:nvSpPr>
            <p:cNvPr id="22" name="Text 19">
              <a:extLst>
                <a:ext uri="{FF2B5EF4-FFF2-40B4-BE49-F238E27FC236}">
                  <a16:creationId xmlns:a16="http://schemas.microsoft.com/office/drawing/2014/main" id="{F6324091-990A-AF74-3064-17FBA06BFD47}"/>
                </a:ext>
              </a:extLst>
            </p:cNvPr>
            <p:cNvSpPr/>
            <p:nvPr/>
          </p:nvSpPr>
          <p:spPr>
            <a:xfrm>
              <a:off x="4754880" y="4169664"/>
              <a:ext cx="6400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rgbClr val="0A1F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API Python (port 8000)</a:t>
              </a:r>
              <a:endParaRPr lang="en-US" sz="1500" dirty="0"/>
            </a:p>
          </p:txBody>
        </p:sp>
        <p:sp>
          <p:nvSpPr>
            <p:cNvPr id="23" name="Text 20">
              <a:extLst>
                <a:ext uri="{FF2B5EF4-FFF2-40B4-BE49-F238E27FC236}">
                  <a16:creationId xmlns:a16="http://schemas.microsoft.com/office/drawing/2014/main" id="{8B5B156F-26F1-5FEB-3CF8-7FC1CBC62F9E}"/>
                </a:ext>
              </a:extLst>
            </p:cNvPr>
            <p:cNvSpPr/>
            <p:nvPr/>
          </p:nvSpPr>
          <p:spPr>
            <a:xfrm>
              <a:off x="4754880" y="4425696"/>
              <a:ext cx="64008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64748B"/>
                  </a:solidFill>
                  <a:latin typeface="Calibri Light" pitchFamily="34" charset="0"/>
                  <a:ea typeface="Calibri Light" pitchFamily="34" charset="-122"/>
                  <a:cs typeface="Calibri Light" pitchFamily="34" charset="-120"/>
                </a:rPr>
                <a:t>FastAPI, charge le modele</a:t>
              </a:r>
              <a:endParaRPr lang="en-US" sz="1200" dirty="0"/>
            </a:p>
          </p:txBody>
        </p:sp>
        <p:sp>
          <p:nvSpPr>
            <p:cNvPr id="24" name="Shape 21">
              <a:extLst>
                <a:ext uri="{FF2B5EF4-FFF2-40B4-BE49-F238E27FC236}">
                  <a16:creationId xmlns:a16="http://schemas.microsoft.com/office/drawing/2014/main" id="{3A10ADB0-491F-E4FE-6570-60311049A6C1}"/>
                </a:ext>
              </a:extLst>
            </p:cNvPr>
            <p:cNvSpPr/>
            <p:nvPr/>
          </p:nvSpPr>
          <p:spPr>
            <a:xfrm>
              <a:off x="4114800" y="4919472"/>
              <a:ext cx="457200" cy="457200"/>
            </a:xfrm>
            <a:prstGeom prst="ellipse">
              <a:avLst/>
            </a:prstGeom>
            <a:solidFill>
              <a:srgbClr val="065A82"/>
            </a:solidFill>
            <a:ln w="12700">
              <a:solidFill>
                <a:srgbClr val="065A82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5" name="Text 22">
              <a:extLst>
                <a:ext uri="{FF2B5EF4-FFF2-40B4-BE49-F238E27FC236}">
                  <a16:creationId xmlns:a16="http://schemas.microsoft.com/office/drawing/2014/main" id="{03237760-5A60-809B-578C-58C81E34936A}"/>
                </a:ext>
              </a:extLst>
            </p:cNvPr>
            <p:cNvSpPr/>
            <p:nvPr/>
          </p:nvSpPr>
          <p:spPr>
            <a:xfrm>
              <a:off x="4114800" y="4919472"/>
              <a:ext cx="4572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5</a:t>
              </a:r>
              <a:endParaRPr lang="en-US" sz="1500" dirty="0"/>
            </a:p>
          </p:txBody>
        </p:sp>
        <p:sp>
          <p:nvSpPr>
            <p:cNvPr id="26" name="Text 23">
              <a:extLst>
                <a:ext uri="{FF2B5EF4-FFF2-40B4-BE49-F238E27FC236}">
                  <a16:creationId xmlns:a16="http://schemas.microsoft.com/office/drawing/2014/main" id="{78551C0F-C818-8C92-EFA6-C82C14B8028E}"/>
                </a:ext>
              </a:extLst>
            </p:cNvPr>
            <p:cNvSpPr/>
            <p:nvPr/>
          </p:nvSpPr>
          <p:spPr>
            <a:xfrm>
              <a:off x="4754880" y="4919472"/>
              <a:ext cx="6400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rgbClr val="0A1F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Microservice 2 (port 9001)</a:t>
              </a:r>
              <a:endParaRPr lang="en-US" sz="1500" dirty="0"/>
            </a:p>
          </p:txBody>
        </p:sp>
        <p:sp>
          <p:nvSpPr>
            <p:cNvPr id="27" name="Text 24">
              <a:extLst>
                <a:ext uri="{FF2B5EF4-FFF2-40B4-BE49-F238E27FC236}">
                  <a16:creationId xmlns:a16="http://schemas.microsoft.com/office/drawing/2014/main" id="{FFD4154F-149F-9F9F-DD21-300BFA8C410F}"/>
                </a:ext>
              </a:extLst>
            </p:cNvPr>
            <p:cNvSpPr/>
            <p:nvPr/>
          </p:nvSpPr>
          <p:spPr>
            <a:xfrm>
              <a:off x="4754880" y="5175504"/>
              <a:ext cx="64008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64748B"/>
                  </a:solidFill>
                  <a:latin typeface="Calibri Light" pitchFamily="34" charset="0"/>
                  <a:ea typeface="Calibri Light" pitchFamily="34" charset="-122"/>
                  <a:cs typeface="Calibri Light" pitchFamily="34" charset="-120"/>
                </a:rPr>
                <a:t>Serveur HTTP, Spark, BDD</a:t>
              </a:r>
              <a:endParaRPr lang="en-US" sz="1200" dirty="0"/>
            </a:p>
          </p:txBody>
        </p:sp>
        <p:sp>
          <p:nvSpPr>
            <p:cNvPr id="28" name="Shape 25">
              <a:extLst>
                <a:ext uri="{FF2B5EF4-FFF2-40B4-BE49-F238E27FC236}">
                  <a16:creationId xmlns:a16="http://schemas.microsoft.com/office/drawing/2014/main" id="{BF1AF17B-0646-5B34-FAB9-A43C375A1FF2}"/>
                </a:ext>
              </a:extLst>
            </p:cNvPr>
            <p:cNvSpPr/>
            <p:nvPr/>
          </p:nvSpPr>
          <p:spPr>
            <a:xfrm>
              <a:off x="4114800" y="5669280"/>
              <a:ext cx="457200" cy="457200"/>
            </a:xfrm>
            <a:prstGeom prst="ellipse">
              <a:avLst/>
            </a:prstGeom>
            <a:solidFill>
              <a:srgbClr val="993556"/>
            </a:solidFill>
            <a:ln w="12700">
              <a:solidFill>
                <a:srgbClr val="993556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9" name="Text 26">
              <a:extLst>
                <a:ext uri="{FF2B5EF4-FFF2-40B4-BE49-F238E27FC236}">
                  <a16:creationId xmlns:a16="http://schemas.microsoft.com/office/drawing/2014/main" id="{3518D11B-48BB-3C41-A0A7-7A4B9BFE84D6}"/>
                </a:ext>
              </a:extLst>
            </p:cNvPr>
            <p:cNvSpPr/>
            <p:nvPr/>
          </p:nvSpPr>
          <p:spPr>
            <a:xfrm>
              <a:off x="4114800" y="5669280"/>
              <a:ext cx="4572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6</a:t>
              </a:r>
              <a:endParaRPr lang="en-US" sz="1500" dirty="0"/>
            </a:p>
          </p:txBody>
        </p:sp>
        <p:sp>
          <p:nvSpPr>
            <p:cNvPr id="30" name="Text 27">
              <a:extLst>
                <a:ext uri="{FF2B5EF4-FFF2-40B4-BE49-F238E27FC236}">
                  <a16:creationId xmlns:a16="http://schemas.microsoft.com/office/drawing/2014/main" id="{C86760D1-40D0-7097-9F61-08C8CC93ADEA}"/>
                </a:ext>
              </a:extLst>
            </p:cNvPr>
            <p:cNvSpPr/>
            <p:nvPr/>
          </p:nvSpPr>
          <p:spPr>
            <a:xfrm>
              <a:off x="4754880" y="5669280"/>
              <a:ext cx="6400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rgbClr val="0A1F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Streamlit (port 8501)</a:t>
              </a:r>
              <a:endParaRPr lang="en-US" sz="1500" dirty="0"/>
            </a:p>
          </p:txBody>
        </p:sp>
        <p:sp>
          <p:nvSpPr>
            <p:cNvPr id="31" name="Text 28">
              <a:extLst>
                <a:ext uri="{FF2B5EF4-FFF2-40B4-BE49-F238E27FC236}">
                  <a16:creationId xmlns:a16="http://schemas.microsoft.com/office/drawing/2014/main" id="{9917687C-24DD-4213-D76D-9F3B639EA5ED}"/>
                </a:ext>
              </a:extLst>
            </p:cNvPr>
            <p:cNvSpPr/>
            <p:nvPr/>
          </p:nvSpPr>
          <p:spPr>
            <a:xfrm>
              <a:off x="4754880" y="5925312"/>
              <a:ext cx="64008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64748B"/>
                  </a:solidFill>
                  <a:latin typeface="Calibri Light" pitchFamily="34" charset="0"/>
                  <a:ea typeface="Calibri Light" pitchFamily="34" charset="-122"/>
                  <a:cs typeface="Calibri Light" pitchFamily="34" charset="-120"/>
                </a:rPr>
                <a:t>Interface web utilisateur</a:t>
              </a:r>
              <a:endParaRPr lang="en-US" sz="1200" dirty="0"/>
            </a:p>
          </p:txBody>
        </p:sp>
      </p:grpSp>
      <p:sp>
        <p:nvSpPr>
          <p:cNvPr id="32" name="Shape 29">
            <a:extLst>
              <a:ext uri="{FF2B5EF4-FFF2-40B4-BE49-F238E27FC236}">
                <a16:creationId xmlns:a16="http://schemas.microsoft.com/office/drawing/2014/main" id="{33FDC968-982E-6CF8-4FD9-420B3B8F2EDD}"/>
              </a:ext>
            </a:extLst>
          </p:cNvPr>
          <p:cNvSpPr/>
          <p:nvPr/>
        </p:nvSpPr>
        <p:spPr>
          <a:xfrm>
            <a:off x="494859" y="6295017"/>
            <a:ext cx="7315200" cy="320040"/>
          </a:xfrm>
          <a:prstGeom prst="rect">
            <a:avLst/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0">
            <a:extLst>
              <a:ext uri="{FF2B5EF4-FFF2-40B4-BE49-F238E27FC236}">
                <a16:creationId xmlns:a16="http://schemas.microsoft.com/office/drawing/2014/main" id="{DA539980-05F8-E930-58C2-075C710E1DDA}"/>
              </a:ext>
            </a:extLst>
          </p:cNvPr>
          <p:cNvSpPr/>
          <p:nvPr/>
        </p:nvSpPr>
        <p:spPr>
          <a:xfrm>
            <a:off x="-173665" y="6295017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90E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Streamlit (8501) → MS2 (9001) → MS1 resize → API (8000) → prediction → BDD</a:t>
            </a:r>
            <a:endParaRPr lang="en-US" sz="1100" dirty="0"/>
          </a:p>
        </p:txBody>
      </p:sp>
      <p:pic>
        <p:nvPicPr>
          <p:cNvPr id="35" name="Image 34">
            <a:extLst>
              <a:ext uri="{FF2B5EF4-FFF2-40B4-BE49-F238E27FC236}">
                <a16:creationId xmlns:a16="http://schemas.microsoft.com/office/drawing/2014/main" id="{C301509E-7861-CBE4-16C6-3CB2E1202E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9759" y="23538"/>
            <a:ext cx="5039785" cy="3492856"/>
          </a:xfrm>
          <a:prstGeom prst="rect">
            <a:avLst/>
          </a:prstGeom>
        </p:spPr>
      </p:pic>
      <p:grpSp>
        <p:nvGrpSpPr>
          <p:cNvPr id="44" name="Groupe 43">
            <a:extLst>
              <a:ext uri="{FF2B5EF4-FFF2-40B4-BE49-F238E27FC236}">
                <a16:creationId xmlns:a16="http://schemas.microsoft.com/office/drawing/2014/main" id="{D2D1C5F7-FADF-523D-009F-FF89475D20C3}"/>
              </a:ext>
            </a:extLst>
          </p:cNvPr>
          <p:cNvGrpSpPr/>
          <p:nvPr/>
        </p:nvGrpSpPr>
        <p:grpSpPr>
          <a:xfrm>
            <a:off x="6096000" y="2793748"/>
            <a:ext cx="5163838" cy="3866700"/>
            <a:chOff x="747436" y="3130906"/>
            <a:chExt cx="4076902" cy="3302034"/>
          </a:xfrm>
        </p:grpSpPr>
        <p:pic>
          <p:nvPicPr>
            <p:cNvPr id="38" name="Image 37">
              <a:extLst>
                <a:ext uri="{FF2B5EF4-FFF2-40B4-BE49-F238E27FC236}">
                  <a16:creationId xmlns:a16="http://schemas.microsoft.com/office/drawing/2014/main" id="{F871D781-5778-A643-D9A3-70F4B4020F8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47436" y="3283178"/>
              <a:ext cx="4076902" cy="3149762"/>
            </a:xfrm>
            <a:prstGeom prst="rect">
              <a:avLst/>
            </a:prstGeom>
          </p:spPr>
        </p:pic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4D3EE215-4074-01F0-A959-245BC64C460E}"/>
                </a:ext>
              </a:extLst>
            </p:cNvPr>
            <p:cNvSpPr/>
            <p:nvPr/>
          </p:nvSpPr>
          <p:spPr>
            <a:xfrm>
              <a:off x="1623974" y="3130906"/>
              <a:ext cx="629108" cy="113343"/>
            </a:xfrm>
            <a:prstGeom prst="rect">
              <a:avLst/>
            </a:prstGeom>
            <a:solidFill>
              <a:srgbClr val="EEEDFE"/>
            </a:solidFill>
            <a:ln>
              <a:solidFill>
                <a:srgbClr val="EEEDF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F0DFD9D9-F37D-D5EC-9739-932810565DF9}"/>
                </a:ext>
              </a:extLst>
            </p:cNvPr>
            <p:cNvSpPr/>
            <p:nvPr/>
          </p:nvSpPr>
          <p:spPr>
            <a:xfrm>
              <a:off x="1623974" y="4498667"/>
              <a:ext cx="2246684" cy="164008"/>
            </a:xfrm>
            <a:prstGeom prst="rect">
              <a:avLst/>
            </a:prstGeom>
            <a:solidFill>
              <a:srgbClr val="FAEEDA"/>
            </a:solidFill>
            <a:ln>
              <a:solidFill>
                <a:srgbClr val="DBC4A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900" b="1" dirty="0">
                  <a:solidFill>
                    <a:srgbClr val="CEAE84"/>
                  </a:solidFill>
                </a:rPr>
                <a:t>ResNet50 84 %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969530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48640" y="38862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du projet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38560" y="3200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660654"/>
            <a:ext cx="73152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grpSp>
        <p:nvGrpSpPr>
          <p:cNvPr id="36" name="Groupe 35">
            <a:extLst>
              <a:ext uri="{FF2B5EF4-FFF2-40B4-BE49-F238E27FC236}">
                <a16:creationId xmlns:a16="http://schemas.microsoft.com/office/drawing/2014/main" id="{62420414-0FA3-90A0-0658-0348DB67609B}"/>
              </a:ext>
            </a:extLst>
          </p:cNvPr>
          <p:cNvGrpSpPr/>
          <p:nvPr/>
        </p:nvGrpSpPr>
        <p:grpSpPr>
          <a:xfrm>
            <a:off x="576321" y="990253"/>
            <a:ext cx="7315200" cy="4873752"/>
            <a:chOff x="4114800" y="1280160"/>
            <a:chExt cx="7315200" cy="4873752"/>
          </a:xfrm>
        </p:grpSpPr>
        <p:sp>
          <p:nvSpPr>
            <p:cNvPr id="7" name="Text 4"/>
            <p:cNvSpPr/>
            <p:nvPr/>
          </p:nvSpPr>
          <p:spPr>
            <a:xfrm>
              <a:off x="4114800" y="1280160"/>
              <a:ext cx="73152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200" b="1" dirty="0">
                  <a:solidFill>
                    <a:srgbClr val="065A8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Pipeline en 6 composants</a:t>
              </a:r>
              <a:endParaRPr lang="en-US" sz="2200" dirty="0"/>
            </a:p>
          </p:txBody>
        </p:sp>
        <p:sp>
          <p:nvSpPr>
            <p:cNvPr id="8" name="Shape 5"/>
            <p:cNvSpPr/>
            <p:nvPr/>
          </p:nvSpPr>
          <p:spPr>
            <a:xfrm>
              <a:off x="4114800" y="1920240"/>
              <a:ext cx="457200" cy="457200"/>
            </a:xfrm>
            <a:prstGeom prst="ellipse">
              <a:avLst/>
            </a:prstGeom>
            <a:solidFill>
              <a:srgbClr val="1C7293"/>
            </a:solidFill>
            <a:ln w="12700">
              <a:solidFill>
                <a:srgbClr val="1C7293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9" name="Text 6"/>
            <p:cNvSpPr/>
            <p:nvPr/>
          </p:nvSpPr>
          <p:spPr>
            <a:xfrm>
              <a:off x="4114800" y="1920240"/>
              <a:ext cx="4572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</a:t>
              </a:r>
              <a:endParaRPr lang="en-US" sz="1500" dirty="0"/>
            </a:p>
          </p:txBody>
        </p:sp>
        <p:sp>
          <p:nvSpPr>
            <p:cNvPr id="10" name="Text 7"/>
            <p:cNvSpPr/>
            <p:nvPr/>
          </p:nvSpPr>
          <p:spPr>
            <a:xfrm>
              <a:off x="4754880" y="1920240"/>
              <a:ext cx="6400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rgbClr val="0A1F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Microservice 1</a:t>
              </a:r>
              <a:endParaRPr lang="en-US" sz="1500" dirty="0"/>
            </a:p>
          </p:txBody>
        </p:sp>
        <p:sp>
          <p:nvSpPr>
            <p:cNvPr id="11" name="Text 8"/>
            <p:cNvSpPr/>
            <p:nvPr/>
          </p:nvSpPr>
          <p:spPr>
            <a:xfrm>
              <a:off x="4754880" y="2176272"/>
              <a:ext cx="64008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64748B"/>
                  </a:solidFill>
                  <a:latin typeface="Calibri Light" pitchFamily="34" charset="0"/>
                  <a:ea typeface="Calibri Light" pitchFamily="34" charset="-122"/>
                  <a:cs typeface="Calibri Light" pitchFamily="34" charset="-120"/>
                </a:rPr>
                <a:t>Scala + Spark, </a:t>
              </a:r>
              <a:r>
                <a:rPr lang="en-US" sz="1200" dirty="0" err="1">
                  <a:solidFill>
                    <a:srgbClr val="64748B"/>
                  </a:solidFill>
                  <a:latin typeface="Calibri Light" pitchFamily="34" charset="0"/>
                  <a:ea typeface="Calibri Light" pitchFamily="34" charset="-122"/>
                  <a:cs typeface="Calibri Light" pitchFamily="34" charset="-120"/>
                </a:rPr>
                <a:t>pretraitement</a:t>
              </a:r>
              <a:r>
                <a:rPr lang="en-US" sz="1200" dirty="0">
                  <a:solidFill>
                    <a:srgbClr val="64748B"/>
                  </a:solidFill>
                  <a:latin typeface="Calibri Light" pitchFamily="34" charset="0"/>
                  <a:ea typeface="Calibri Light" pitchFamily="34" charset="-122"/>
                  <a:cs typeface="Calibri Light" pitchFamily="34" charset="-120"/>
                </a:rPr>
                <a:t>, image 224 x 224</a:t>
              </a:r>
              <a:endParaRPr lang="en-US" sz="1200" dirty="0"/>
            </a:p>
          </p:txBody>
        </p:sp>
        <p:sp>
          <p:nvSpPr>
            <p:cNvPr id="12" name="Shape 9"/>
            <p:cNvSpPr/>
            <p:nvPr/>
          </p:nvSpPr>
          <p:spPr>
            <a:xfrm>
              <a:off x="4114800" y="2670048"/>
              <a:ext cx="457200" cy="457200"/>
            </a:xfrm>
            <a:prstGeom prst="ellipse">
              <a:avLst/>
            </a:prstGeom>
            <a:solidFill>
              <a:srgbClr val="64748B"/>
            </a:solidFill>
            <a:ln w="12700">
              <a:solidFill>
                <a:srgbClr val="64748B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3" name="Text 10"/>
            <p:cNvSpPr/>
            <p:nvPr/>
          </p:nvSpPr>
          <p:spPr>
            <a:xfrm>
              <a:off x="4114800" y="2670048"/>
              <a:ext cx="4572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</a:t>
              </a:r>
              <a:endParaRPr lang="en-US" sz="1500" dirty="0"/>
            </a:p>
          </p:txBody>
        </p:sp>
        <p:sp>
          <p:nvSpPr>
            <p:cNvPr id="14" name="Text 11"/>
            <p:cNvSpPr/>
            <p:nvPr/>
          </p:nvSpPr>
          <p:spPr>
            <a:xfrm>
              <a:off x="4754880" y="2670048"/>
              <a:ext cx="6400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rgbClr val="0A1F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weather.parquet</a:t>
              </a:r>
              <a:endParaRPr lang="en-US" sz="1500" dirty="0"/>
            </a:p>
          </p:txBody>
        </p:sp>
        <p:sp>
          <p:nvSpPr>
            <p:cNvPr id="15" name="Text 12"/>
            <p:cNvSpPr/>
            <p:nvPr/>
          </p:nvSpPr>
          <p:spPr>
            <a:xfrm>
              <a:off x="4754880" y="2926080"/>
              <a:ext cx="64008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64748B"/>
                  </a:solidFill>
                  <a:latin typeface="Calibri Light" pitchFamily="34" charset="0"/>
                  <a:ea typeface="Calibri Light" pitchFamily="34" charset="-122"/>
                  <a:cs typeface="Calibri Light" pitchFamily="34" charset="-120"/>
                </a:rPr>
                <a:t>6862 records, format Spark</a:t>
              </a:r>
              <a:endParaRPr lang="en-US" sz="1200" dirty="0"/>
            </a:p>
          </p:txBody>
        </p:sp>
        <p:sp>
          <p:nvSpPr>
            <p:cNvPr id="16" name="Shape 13"/>
            <p:cNvSpPr/>
            <p:nvPr/>
          </p:nvSpPr>
          <p:spPr>
            <a:xfrm>
              <a:off x="4114800" y="3419856"/>
              <a:ext cx="457200" cy="457200"/>
            </a:xfrm>
            <a:prstGeom prst="ellipse">
              <a:avLst/>
            </a:prstGeom>
            <a:solidFill>
              <a:srgbClr val="21295C"/>
            </a:solidFill>
            <a:ln w="12700">
              <a:solidFill>
                <a:srgbClr val="21295C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Text 14"/>
            <p:cNvSpPr/>
            <p:nvPr/>
          </p:nvSpPr>
          <p:spPr>
            <a:xfrm>
              <a:off x="4114800" y="3419856"/>
              <a:ext cx="4572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</a:t>
              </a:r>
              <a:endParaRPr lang="en-US" sz="1500" dirty="0"/>
            </a:p>
          </p:txBody>
        </p:sp>
        <p:sp>
          <p:nvSpPr>
            <p:cNvPr id="18" name="Text 15"/>
            <p:cNvSpPr/>
            <p:nvPr/>
          </p:nvSpPr>
          <p:spPr>
            <a:xfrm>
              <a:off x="4754880" y="3419856"/>
              <a:ext cx="6400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rgbClr val="0A1F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Notebook Python</a:t>
              </a:r>
              <a:endParaRPr lang="en-US" sz="1500" dirty="0"/>
            </a:p>
          </p:txBody>
        </p:sp>
        <p:sp>
          <p:nvSpPr>
            <p:cNvPr id="19" name="Text 16"/>
            <p:cNvSpPr/>
            <p:nvPr/>
          </p:nvSpPr>
          <p:spPr>
            <a:xfrm>
              <a:off x="4754880" y="3675888"/>
              <a:ext cx="64008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64748B"/>
                  </a:solidFill>
                  <a:latin typeface="Calibri Light" pitchFamily="34" charset="0"/>
                  <a:ea typeface="Calibri Light" pitchFamily="34" charset="-122"/>
                  <a:cs typeface="Calibri Light" pitchFamily="34" charset="-120"/>
                </a:rPr>
                <a:t>ResNet50, accuracy 98%</a:t>
              </a:r>
              <a:endParaRPr lang="en-US" sz="1200" dirty="0"/>
            </a:p>
          </p:txBody>
        </p:sp>
        <p:sp>
          <p:nvSpPr>
            <p:cNvPr id="20" name="Shape 17"/>
            <p:cNvSpPr/>
            <p:nvPr/>
          </p:nvSpPr>
          <p:spPr>
            <a:xfrm>
              <a:off x="4114800" y="4169664"/>
              <a:ext cx="457200" cy="457200"/>
            </a:xfrm>
            <a:prstGeom prst="ellipse">
              <a:avLst/>
            </a:prstGeom>
            <a:solidFill>
              <a:srgbClr val="F59E0B"/>
            </a:solidFill>
            <a:ln w="12700">
              <a:solidFill>
                <a:srgbClr val="F59E0B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1" name="Text 18"/>
            <p:cNvSpPr/>
            <p:nvPr/>
          </p:nvSpPr>
          <p:spPr>
            <a:xfrm>
              <a:off x="4114800" y="4169664"/>
              <a:ext cx="4572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4</a:t>
              </a:r>
              <a:endParaRPr lang="en-US" sz="1500" dirty="0"/>
            </a:p>
          </p:txBody>
        </p:sp>
        <p:sp>
          <p:nvSpPr>
            <p:cNvPr id="22" name="Text 19"/>
            <p:cNvSpPr/>
            <p:nvPr/>
          </p:nvSpPr>
          <p:spPr>
            <a:xfrm>
              <a:off x="4754880" y="4169664"/>
              <a:ext cx="6400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rgbClr val="0A1F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API Python (port 8000)</a:t>
              </a:r>
              <a:endParaRPr lang="en-US" sz="1500" dirty="0"/>
            </a:p>
          </p:txBody>
        </p:sp>
        <p:sp>
          <p:nvSpPr>
            <p:cNvPr id="23" name="Text 20"/>
            <p:cNvSpPr/>
            <p:nvPr/>
          </p:nvSpPr>
          <p:spPr>
            <a:xfrm>
              <a:off x="4754880" y="4425696"/>
              <a:ext cx="64008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64748B"/>
                  </a:solidFill>
                  <a:latin typeface="Calibri Light" pitchFamily="34" charset="0"/>
                  <a:ea typeface="Calibri Light" pitchFamily="34" charset="-122"/>
                  <a:cs typeface="Calibri Light" pitchFamily="34" charset="-120"/>
                </a:rPr>
                <a:t>FastAPI, charge le modele</a:t>
              </a:r>
              <a:endParaRPr lang="en-US" sz="1200" dirty="0"/>
            </a:p>
          </p:txBody>
        </p:sp>
        <p:sp>
          <p:nvSpPr>
            <p:cNvPr id="24" name="Shape 21"/>
            <p:cNvSpPr/>
            <p:nvPr/>
          </p:nvSpPr>
          <p:spPr>
            <a:xfrm>
              <a:off x="4114800" y="4919472"/>
              <a:ext cx="457200" cy="457200"/>
            </a:xfrm>
            <a:prstGeom prst="ellipse">
              <a:avLst/>
            </a:prstGeom>
            <a:solidFill>
              <a:srgbClr val="065A82"/>
            </a:solidFill>
            <a:ln w="12700">
              <a:solidFill>
                <a:srgbClr val="065A82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5" name="Text 22"/>
            <p:cNvSpPr/>
            <p:nvPr/>
          </p:nvSpPr>
          <p:spPr>
            <a:xfrm>
              <a:off x="4114800" y="4919472"/>
              <a:ext cx="4572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5</a:t>
              </a:r>
              <a:endParaRPr lang="en-US" sz="1500" dirty="0"/>
            </a:p>
          </p:txBody>
        </p:sp>
        <p:sp>
          <p:nvSpPr>
            <p:cNvPr id="26" name="Text 23"/>
            <p:cNvSpPr/>
            <p:nvPr/>
          </p:nvSpPr>
          <p:spPr>
            <a:xfrm>
              <a:off x="4754880" y="4919472"/>
              <a:ext cx="6400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rgbClr val="0A1F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Microservice 2 (port 9001)</a:t>
              </a:r>
              <a:endParaRPr lang="en-US" sz="1500" dirty="0"/>
            </a:p>
          </p:txBody>
        </p:sp>
        <p:sp>
          <p:nvSpPr>
            <p:cNvPr id="27" name="Text 24"/>
            <p:cNvSpPr/>
            <p:nvPr/>
          </p:nvSpPr>
          <p:spPr>
            <a:xfrm>
              <a:off x="4754880" y="5175504"/>
              <a:ext cx="64008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64748B"/>
                  </a:solidFill>
                  <a:latin typeface="Calibri Light" pitchFamily="34" charset="0"/>
                  <a:ea typeface="Calibri Light" pitchFamily="34" charset="-122"/>
                  <a:cs typeface="Calibri Light" pitchFamily="34" charset="-120"/>
                </a:rPr>
                <a:t>Serveur HTTP, Spark, BDD</a:t>
              </a:r>
              <a:endParaRPr lang="en-US" sz="1200" dirty="0"/>
            </a:p>
          </p:txBody>
        </p:sp>
        <p:sp>
          <p:nvSpPr>
            <p:cNvPr id="28" name="Shape 25"/>
            <p:cNvSpPr/>
            <p:nvPr/>
          </p:nvSpPr>
          <p:spPr>
            <a:xfrm>
              <a:off x="4114800" y="5669280"/>
              <a:ext cx="457200" cy="457200"/>
            </a:xfrm>
            <a:prstGeom prst="ellipse">
              <a:avLst/>
            </a:prstGeom>
            <a:solidFill>
              <a:srgbClr val="993556"/>
            </a:solidFill>
            <a:ln w="12700">
              <a:solidFill>
                <a:srgbClr val="993556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9" name="Text 26"/>
            <p:cNvSpPr/>
            <p:nvPr/>
          </p:nvSpPr>
          <p:spPr>
            <a:xfrm>
              <a:off x="4114800" y="5669280"/>
              <a:ext cx="4572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6</a:t>
              </a:r>
              <a:endParaRPr lang="en-US" sz="1500" dirty="0"/>
            </a:p>
          </p:txBody>
        </p:sp>
        <p:sp>
          <p:nvSpPr>
            <p:cNvPr id="30" name="Text 27"/>
            <p:cNvSpPr/>
            <p:nvPr/>
          </p:nvSpPr>
          <p:spPr>
            <a:xfrm>
              <a:off x="4754880" y="5669280"/>
              <a:ext cx="6400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rgbClr val="0A1F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Streamlit (port 8501)</a:t>
              </a:r>
              <a:endParaRPr lang="en-US" sz="1500" dirty="0"/>
            </a:p>
          </p:txBody>
        </p:sp>
        <p:sp>
          <p:nvSpPr>
            <p:cNvPr id="31" name="Text 28"/>
            <p:cNvSpPr/>
            <p:nvPr/>
          </p:nvSpPr>
          <p:spPr>
            <a:xfrm>
              <a:off x="4754880" y="5925312"/>
              <a:ext cx="64008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64748B"/>
                  </a:solidFill>
                  <a:latin typeface="Calibri Light" pitchFamily="34" charset="0"/>
                  <a:ea typeface="Calibri Light" pitchFamily="34" charset="-122"/>
                  <a:cs typeface="Calibri Light" pitchFamily="34" charset="-120"/>
                </a:rPr>
                <a:t>Interface web utilisateur</a:t>
              </a:r>
              <a:endParaRPr lang="en-US" sz="1200" dirty="0"/>
            </a:p>
          </p:txBody>
        </p:sp>
      </p:grpSp>
      <p:sp>
        <p:nvSpPr>
          <p:cNvPr id="32" name="Shape 29"/>
          <p:cNvSpPr/>
          <p:nvPr/>
        </p:nvSpPr>
        <p:spPr>
          <a:xfrm>
            <a:off x="494859" y="6295017"/>
            <a:ext cx="7315200" cy="320040"/>
          </a:xfrm>
          <a:prstGeom prst="rect">
            <a:avLst/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0"/>
          <p:cNvSpPr/>
          <p:nvPr/>
        </p:nvSpPr>
        <p:spPr>
          <a:xfrm>
            <a:off x="-173665" y="6295017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90E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Streamlit (8501) → MS2 (9001) → MS1 resize → API (8000) → prediction → BDD</a:t>
            </a:r>
            <a:endParaRPr lang="en-US" sz="1100" dirty="0"/>
          </a:p>
        </p:txBody>
      </p:sp>
      <p:pic>
        <p:nvPicPr>
          <p:cNvPr id="43" name="Image 42">
            <a:extLst>
              <a:ext uri="{FF2B5EF4-FFF2-40B4-BE49-F238E27FC236}">
                <a16:creationId xmlns:a16="http://schemas.microsoft.com/office/drawing/2014/main" id="{64496373-2D87-1BBC-0271-976D10CAA5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7943" y="1177657"/>
            <a:ext cx="5174117" cy="380706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 1 — Scala + Spark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38560" y="3200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73152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539341" y="1179576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Pretraitement des images et generation du Parquet</a:t>
            </a:r>
            <a:endParaRPr lang="en-US" sz="1600" dirty="0"/>
          </a:p>
        </p:txBody>
      </p:sp>
      <p:grpSp>
        <p:nvGrpSpPr>
          <p:cNvPr id="57" name="Groupe 56">
            <a:extLst>
              <a:ext uri="{FF2B5EF4-FFF2-40B4-BE49-F238E27FC236}">
                <a16:creationId xmlns:a16="http://schemas.microsoft.com/office/drawing/2014/main" id="{B203ECB1-48B2-37A1-CD3F-184AD8B25C68}"/>
              </a:ext>
            </a:extLst>
          </p:cNvPr>
          <p:cNvGrpSpPr/>
          <p:nvPr/>
        </p:nvGrpSpPr>
        <p:grpSpPr>
          <a:xfrm>
            <a:off x="548640" y="1635098"/>
            <a:ext cx="5669280" cy="2377440"/>
            <a:chOff x="6400800" y="1737360"/>
            <a:chExt cx="2697480" cy="2377440"/>
          </a:xfrm>
        </p:grpSpPr>
        <p:sp>
          <p:nvSpPr>
            <p:cNvPr id="19" name="Shape 17"/>
            <p:cNvSpPr/>
            <p:nvPr/>
          </p:nvSpPr>
          <p:spPr>
            <a:xfrm>
              <a:off x="6400800" y="1737360"/>
              <a:ext cx="2697480" cy="23774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6000"/>
                </a:srgbClr>
              </a:outerShdw>
            </a:effectLst>
          </p:spPr>
          <p:txBody>
            <a:bodyPr/>
            <a:lstStyle/>
            <a:p>
              <a:endParaRPr lang="fr-FR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6400800" y="1737360"/>
              <a:ext cx="73152" cy="2377440"/>
            </a:xfrm>
            <a:prstGeom prst="rect">
              <a:avLst/>
            </a:prstGeom>
            <a:solidFill>
              <a:srgbClr val="1C7293"/>
            </a:solidFill>
            <a:ln w="12700">
              <a:solidFill>
                <a:srgbClr val="1C7293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1" name="Text 19"/>
            <p:cNvSpPr/>
            <p:nvPr/>
          </p:nvSpPr>
          <p:spPr>
            <a:xfrm>
              <a:off x="6583680" y="1874520"/>
              <a:ext cx="73152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endParaRPr lang="en-US" sz="280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6583680" y="2286000"/>
              <a:ext cx="24231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0A1F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ImagePreprocessor</a:t>
              </a:r>
              <a:endParaRPr lang="en-US" sz="140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6583680" y="2697480"/>
              <a:ext cx="2423160" cy="10058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100" dirty="0">
                  <a:solidFill>
                    <a:srgbClr val="1E293B"/>
                  </a:solidFill>
                  <a:latin typeface="Calibri Light" pitchFamily="34" charset="0"/>
                  <a:ea typeface="Calibri Light" pitchFamily="34" charset="-122"/>
                  <a:cs typeface="Calibri Light" pitchFamily="34" charset="-120"/>
                </a:rPr>
                <a:t>preprocess() : resize 64x64 + normalise pour le Parquet. resizeImage() : resize 224x224 pour la prediction. </a:t>
              </a:r>
            </a:p>
            <a:p>
              <a:r>
                <a:rPr lang="en-US" sz="1100" dirty="0">
                  <a:solidFill>
                    <a:srgbClr val="1E293B"/>
                  </a:solidFill>
                  <a:latin typeface="Calibri Light" pitchFamily="34" charset="0"/>
                  <a:ea typeface="Calibri Light" pitchFamily="34" charset="-122"/>
                  <a:cs typeface="Calibri Light" pitchFamily="34" charset="-120"/>
                </a:rPr>
                <a:t>Cree un </a:t>
              </a:r>
              <a:r>
                <a:rPr lang="en-US" sz="1100" dirty="0" err="1">
                  <a:solidFill>
                    <a:srgbClr val="1E293B"/>
                  </a:solidFill>
                  <a:latin typeface="Calibri Light" pitchFamily="34" charset="0"/>
                  <a:ea typeface="Calibri Light" pitchFamily="34" charset="-122"/>
                  <a:cs typeface="Calibri Light" pitchFamily="34" charset="-120"/>
                </a:rPr>
                <a:t>DataFrame</a:t>
              </a:r>
              <a:r>
                <a:rPr lang="en-US" sz="1100" dirty="0">
                  <a:solidFill>
                    <a:srgbClr val="1E293B"/>
                  </a:solidFill>
                  <a:latin typeface="Calibri Light" pitchFamily="34" charset="0"/>
                  <a:ea typeface="Calibri Light" pitchFamily="34" charset="-122"/>
                  <a:cs typeface="Calibri Light" pitchFamily="34" charset="-120"/>
                </a:rPr>
                <a:t> Spark et </a:t>
              </a:r>
              <a:r>
                <a:rPr lang="en-US" sz="1100" dirty="0" err="1">
                  <a:solidFill>
                    <a:srgbClr val="1E293B"/>
                  </a:solidFill>
                  <a:latin typeface="Calibri Light" pitchFamily="34" charset="0"/>
                  <a:ea typeface="Calibri Light" pitchFamily="34" charset="-122"/>
                  <a:cs typeface="Calibri Light" pitchFamily="34" charset="-120"/>
                </a:rPr>
                <a:t>exporte</a:t>
              </a:r>
              <a:r>
                <a:rPr lang="en-US" sz="1100" dirty="0">
                  <a:solidFill>
                    <a:srgbClr val="1E293B"/>
                  </a:solidFill>
                  <a:latin typeface="Calibri Light" pitchFamily="34" charset="0"/>
                  <a:ea typeface="Calibri Light" pitchFamily="34" charset="-122"/>
                  <a:cs typeface="Calibri Light" pitchFamily="34" charset="-120"/>
                </a:rPr>
                <a:t> </a:t>
              </a:r>
              <a:r>
                <a:rPr lang="en-US" sz="1100" dirty="0" err="1">
                  <a:solidFill>
                    <a:srgbClr val="1E293B"/>
                  </a:solidFill>
                  <a:latin typeface="Calibri Light" pitchFamily="34" charset="0"/>
                  <a:ea typeface="Calibri Light" pitchFamily="34" charset="-122"/>
                  <a:cs typeface="Calibri Light" pitchFamily="34" charset="-120"/>
                </a:rPr>
                <a:t>en</a:t>
              </a:r>
              <a:r>
                <a:rPr lang="en-US" sz="1100" dirty="0">
                  <a:solidFill>
                    <a:srgbClr val="1E293B"/>
                  </a:solidFill>
                  <a:latin typeface="Calibri Light" pitchFamily="34" charset="0"/>
                  <a:ea typeface="Calibri Light" pitchFamily="34" charset="-122"/>
                  <a:cs typeface="Calibri Light" pitchFamily="34" charset="-120"/>
                </a:rPr>
                <a:t> Parquet avec de </a:t>
              </a:r>
              <a:r>
                <a:rPr lang="en-US" sz="1100" dirty="0" err="1">
                  <a:solidFill>
                    <a:srgbClr val="1E293B"/>
                  </a:solidFill>
                  <a:latin typeface="Calibri Light" pitchFamily="34" charset="0"/>
                  <a:ea typeface="Calibri Light" pitchFamily="34" charset="-122"/>
                  <a:cs typeface="Calibri Light" pitchFamily="34" charset="-120"/>
                </a:rPr>
                <a:t>nombreuses</a:t>
              </a:r>
              <a:r>
                <a:rPr lang="en-US" sz="1100" dirty="0">
                  <a:solidFill>
                    <a:srgbClr val="1E293B"/>
                  </a:solidFill>
                  <a:latin typeface="Calibri Light" pitchFamily="34" charset="0"/>
                  <a:ea typeface="Calibri Light" pitchFamily="34" charset="-122"/>
                  <a:cs typeface="Calibri Light" pitchFamily="34" charset="-120"/>
                </a:rPr>
                <a:t> APIs Spark.</a:t>
              </a:r>
              <a:endParaRPr lang="en-US" sz="1100" dirty="0"/>
            </a:p>
            <a:p>
              <a:pPr marL="0" indent="0">
                <a:buNone/>
              </a:pPr>
              <a:endParaRPr lang="en-US" sz="110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6583680" y="3749040"/>
              <a:ext cx="24231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kern="0" spc="300" dirty="0">
                  <a:solidFill>
                    <a:srgbClr val="1C729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BufferedImage</a:t>
              </a:r>
              <a:endParaRPr lang="en-US" sz="900" dirty="0"/>
            </a:p>
          </p:txBody>
        </p:sp>
      </p:grpSp>
      <p:sp>
        <p:nvSpPr>
          <p:cNvPr id="31" name="Shape 29"/>
          <p:cNvSpPr/>
          <p:nvPr/>
        </p:nvSpPr>
        <p:spPr>
          <a:xfrm>
            <a:off x="731520" y="4480560"/>
            <a:ext cx="10698480" cy="2103120"/>
          </a:xfrm>
          <a:prstGeom prst="rect">
            <a:avLst/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1005840" y="4617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APIs Spark utilisees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005840" y="5074920"/>
            <a:ext cx="2514600" cy="347472"/>
          </a:xfrm>
          <a:prstGeom prst="rect">
            <a:avLst/>
          </a:prstGeom>
          <a:solidFill>
            <a:srgbClr val="065A82">
              <a:alpha val="60000"/>
            </a:srgbClr>
          </a:solidFill>
          <a:ln w="63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1005840" y="507492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SparkSession.builder()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11880" y="5074920"/>
            <a:ext cx="2514600" cy="347472"/>
          </a:xfrm>
          <a:prstGeom prst="rect">
            <a:avLst/>
          </a:prstGeom>
          <a:solidFill>
            <a:srgbClr val="065A82">
              <a:alpha val="60000"/>
            </a:srgbClr>
          </a:solidFill>
          <a:ln w="63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3611880" y="507492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df.write.parquet()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217920" y="5074920"/>
            <a:ext cx="2514600" cy="347472"/>
          </a:xfrm>
          <a:prstGeom prst="rect">
            <a:avLst/>
          </a:prstGeom>
          <a:solidFill>
            <a:srgbClr val="065A82">
              <a:alpha val="60000"/>
            </a:srgbClr>
          </a:solidFill>
          <a:ln w="63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6217920" y="507492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spark.read.parquet()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8823960" y="5074920"/>
            <a:ext cx="2514600" cy="347472"/>
          </a:xfrm>
          <a:prstGeom prst="rect">
            <a:avLst/>
          </a:prstGeom>
          <a:solidFill>
            <a:srgbClr val="065A82">
              <a:alpha val="60000"/>
            </a:srgbClr>
          </a:solidFill>
          <a:ln w="63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8823960" y="507492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df.printSchema()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1005840" y="5495544"/>
            <a:ext cx="2514600" cy="347472"/>
          </a:xfrm>
          <a:prstGeom prst="rect">
            <a:avLst/>
          </a:prstGeom>
          <a:solidFill>
            <a:srgbClr val="065A82">
              <a:alpha val="60000"/>
            </a:srgbClr>
          </a:solidFill>
          <a:ln w="63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Text 40"/>
          <p:cNvSpPr/>
          <p:nvPr/>
        </p:nvSpPr>
        <p:spPr>
          <a:xfrm>
            <a:off x="1005840" y="5495544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df.select()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3611880" y="5495544"/>
            <a:ext cx="2514600" cy="347472"/>
          </a:xfrm>
          <a:prstGeom prst="rect">
            <a:avLst/>
          </a:prstGeom>
          <a:solidFill>
            <a:srgbClr val="065A82">
              <a:alpha val="60000"/>
            </a:srgbClr>
          </a:solidFill>
          <a:ln w="63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Text 42"/>
          <p:cNvSpPr/>
          <p:nvPr/>
        </p:nvSpPr>
        <p:spPr>
          <a:xfrm>
            <a:off x="3611880" y="5495544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df.show()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217920" y="5495544"/>
            <a:ext cx="2514600" cy="347472"/>
          </a:xfrm>
          <a:prstGeom prst="rect">
            <a:avLst/>
          </a:prstGeom>
          <a:solidFill>
            <a:srgbClr val="065A82">
              <a:alpha val="60000"/>
            </a:srgbClr>
          </a:solidFill>
          <a:ln w="63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6" name="Text 44"/>
          <p:cNvSpPr/>
          <p:nvPr/>
        </p:nvSpPr>
        <p:spPr>
          <a:xfrm>
            <a:off x="6217920" y="5495544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df.groupBy().count()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8823960" y="5495544"/>
            <a:ext cx="2514600" cy="347472"/>
          </a:xfrm>
          <a:prstGeom prst="rect">
            <a:avLst/>
          </a:prstGeom>
          <a:solidFill>
            <a:srgbClr val="065A82">
              <a:alpha val="60000"/>
            </a:srgbClr>
          </a:solidFill>
          <a:ln w="63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8" name="Text 46"/>
          <p:cNvSpPr/>
          <p:nvPr/>
        </p:nvSpPr>
        <p:spPr>
          <a:xfrm>
            <a:off x="8823960" y="5495544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df.filter()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1005840" y="5916168"/>
            <a:ext cx="2514600" cy="347472"/>
          </a:xfrm>
          <a:prstGeom prst="rect">
            <a:avLst/>
          </a:prstGeom>
          <a:solidFill>
            <a:srgbClr val="065A82">
              <a:alpha val="60000"/>
            </a:srgbClr>
          </a:solidFill>
          <a:ln w="63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0" name="Text 48"/>
          <p:cNvSpPr/>
          <p:nvPr/>
        </p:nvSpPr>
        <p:spPr>
          <a:xfrm>
            <a:off x="1005840" y="591616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df.describe()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3611880" y="5916168"/>
            <a:ext cx="2514600" cy="347472"/>
          </a:xfrm>
          <a:prstGeom prst="rect">
            <a:avLst/>
          </a:prstGeom>
          <a:solidFill>
            <a:srgbClr val="065A82">
              <a:alpha val="60000"/>
            </a:srgbClr>
          </a:solidFill>
          <a:ln w="63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2" name="Text 50"/>
          <p:cNvSpPr/>
          <p:nvPr/>
        </p:nvSpPr>
        <p:spPr>
          <a:xfrm>
            <a:off x="3611880" y="591616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df.orderBy()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6217920" y="5916168"/>
            <a:ext cx="2514600" cy="347472"/>
          </a:xfrm>
          <a:prstGeom prst="rect">
            <a:avLst/>
          </a:prstGeom>
          <a:solidFill>
            <a:srgbClr val="065A82">
              <a:alpha val="60000"/>
            </a:srgbClr>
          </a:solidFill>
          <a:ln w="63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4" name="Text 52"/>
          <p:cNvSpPr/>
          <p:nvPr/>
        </p:nvSpPr>
        <p:spPr>
          <a:xfrm>
            <a:off x="6217920" y="591616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df.count()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8823960" y="5916168"/>
            <a:ext cx="2514600" cy="347472"/>
          </a:xfrm>
          <a:prstGeom prst="rect">
            <a:avLst/>
          </a:prstGeom>
          <a:solidFill>
            <a:srgbClr val="065A82">
              <a:alpha val="60000"/>
            </a:srgbClr>
          </a:solidFill>
          <a:ln w="63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6" name="Text 54"/>
          <p:cNvSpPr/>
          <p:nvPr/>
        </p:nvSpPr>
        <p:spPr>
          <a:xfrm>
            <a:off x="8823960" y="591616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spark.sql()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Python — Deep Learning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38560" y="3200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73152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Entrainement du modele de classification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 de l'accuracy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31520" y="2468880"/>
            <a:ext cx="26517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731520" y="2468880"/>
            <a:ext cx="2651760" cy="10972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731520" y="283464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71%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914400" y="4114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simple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45262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Reseau basique 3 couches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474720" y="2468880"/>
            <a:ext cx="26517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3474720" y="2468880"/>
            <a:ext cx="2651760" cy="10972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3474720" y="283464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</a:t>
            </a:r>
            <a:endParaRPr lang="en-US" sz="5600" dirty="0"/>
          </a:p>
        </p:txBody>
      </p:sp>
      <p:sp>
        <p:nvSpPr>
          <p:cNvPr id="16" name="Text 14"/>
          <p:cNvSpPr/>
          <p:nvPr/>
        </p:nvSpPr>
        <p:spPr>
          <a:xfrm>
            <a:off x="3657600" y="4114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 v1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657600" y="45262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Transfer learning gele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0" y="2468880"/>
            <a:ext cx="26517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6217920" y="2468880"/>
            <a:ext cx="2651760" cy="10972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6217920" y="283464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84%</a:t>
            </a:r>
            <a:endParaRPr lang="en-US" sz="5600" dirty="0"/>
          </a:p>
        </p:txBody>
      </p:sp>
      <p:sp>
        <p:nvSpPr>
          <p:cNvPr id="21" name="Text 19"/>
          <p:cNvSpPr/>
          <p:nvPr/>
        </p:nvSpPr>
        <p:spPr>
          <a:xfrm>
            <a:off x="6400800" y="4114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 v5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00800" y="45262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Fine-tuning + augmentation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961120" y="2468880"/>
            <a:ext cx="26517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8961120" y="2468880"/>
            <a:ext cx="2651760" cy="1097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8961120" y="283464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84%</a:t>
            </a:r>
            <a:endParaRPr lang="en-US" sz="5600" dirty="0"/>
          </a:p>
        </p:txBody>
      </p:sp>
      <p:sp>
        <p:nvSpPr>
          <p:cNvPr id="26" name="Text 24"/>
          <p:cNvSpPr/>
          <p:nvPr/>
        </p:nvSpPr>
        <p:spPr>
          <a:xfrm>
            <a:off x="9144000" y="4114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 final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144000" y="45262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Version optimisee (collegue)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144000" y="53949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 retenu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31520" y="6217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Techniques : Transfer Learning (ImageNet) | Fine-tuning | Data Augmentation | BatchNormalization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Python + Microservice 2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38560" y="3200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73152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 coeur de la prediction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737360"/>
            <a:ext cx="539496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731520" y="1737360"/>
            <a:ext cx="5394960" cy="1371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1005840" y="20116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59E0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API PYTHON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23317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— port 8000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1005840" y="3017520"/>
            <a:ext cx="4846320" cy="548640"/>
          </a:xfrm>
          <a:prstGeom prst="rect">
            <a:avLst/>
          </a:prstGeom>
          <a:solidFill>
            <a:srgbClr val="F4F7FA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1143000" y="3044952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/health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Verifier l'etat du modele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05840" y="3657600"/>
            <a:ext cx="4846320" cy="548640"/>
          </a:xfrm>
          <a:prstGeom prst="rect">
            <a:avLst/>
          </a:prstGeom>
          <a:solidFill>
            <a:srgbClr val="F4F7FA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1143000" y="3685032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/predict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Recoit une image, retourne la classe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4389120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Role : charge le modele .keras en memoire, fait le resize 224x224, la normalisation ImageNet, et la prediction. Sert de pont entre Python (TensorFlow) et Scala.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0" y="1737360"/>
            <a:ext cx="512064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6400800" y="1737360"/>
            <a:ext cx="5120640" cy="1371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6675120" y="20116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65A8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MICROSERVICE 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675120" y="23317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Serveur HTTP — port 9001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675120" y="29260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etapes au lancement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675120" y="3291840"/>
            <a:ext cx="347472" cy="34747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6675120" y="32918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178040" y="327355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ParquetReader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178040" y="349300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Spark APIs (batch)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675120" y="3858768"/>
            <a:ext cx="347472" cy="34747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6675120" y="38587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178040" y="38404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resizeImage()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178040" y="405993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Code du MS1 (batch)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675120" y="4425696"/>
            <a:ext cx="347472" cy="34747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6675120" y="44256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178040" y="440740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PredictionService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178040" y="462686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HTTP → API Python (batch)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675120" y="4992624"/>
            <a:ext cx="347472" cy="34747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6675120" y="4992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178040" y="4974336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DatabaseManager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178040" y="519379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INSERT PostgreSQL (batch)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675120" y="5559552"/>
            <a:ext cx="347472" cy="3474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6675120" y="55595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178040" y="5541264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PredictionServer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178040" y="57607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Serveur HTTP permanent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675120" y="62179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 MS2 fait d'abord les etapes 1-4 (batch), puis lance le serveur (etape 5) qui reste allume.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 entre les microservices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38560" y="3200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73152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731520" y="1828800"/>
            <a:ext cx="3657600" cy="29260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914400" y="20116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B8E3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MICROSERVICE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23317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ImagePreprocessor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2834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preprocess()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31089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E3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64x64 + normalise → Parquet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35204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resizeImage()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37947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E3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224x224 → sauvegarde sur disque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2062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resizeToRgb()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448056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E3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Code partage par les deux methodes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480560" y="3200400"/>
            <a:ext cx="3200400" cy="0"/>
          </a:xfrm>
          <a:prstGeom prst="line">
            <a:avLst/>
          </a:prstGeom>
          <a:noFill/>
          <a:ln w="38100">
            <a:solidFill>
              <a:srgbClr val="065A82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4754880" y="2880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.dependsOn()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772400" y="1828800"/>
            <a:ext cx="3657600" cy="2926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7955280" y="20116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B8D4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MICROSERVICE 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955280" y="23317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Main.scala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955280" y="2834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8D4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Quand une nouvelle image arrive :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955280" y="32004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Recoit l'image de Streamlit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955280" y="35204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Appelle resizeImage() du MS1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955280" y="38404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Envoie image 224x224 a l'API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955280" y="41605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Sauvegarde en PostgreSQL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955280" y="44805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Retourne le resultat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31520" y="5120640"/>
            <a:ext cx="106984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1005840" y="52120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Avantages de cette architecture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1005840" y="5669280"/>
            <a:ext cx="228600" cy="2286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1325880" y="5623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Reutilisation reelle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325880" y="59436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 MS2 utilise vraiment le code du MS1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0" y="5669280"/>
            <a:ext cx="228600" cy="2286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4892040" y="5623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Coherence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892040" y="59436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Un seul algorithme de resize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138160" y="5669280"/>
            <a:ext cx="228600" cy="2286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8458200" y="5623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458200" y="59436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Un changement profite aux deux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Streamlit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38560" y="3200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9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73152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15 — weather_db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2011680"/>
            <a:ext cx="5029200" cy="347472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914400" y="20116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926080" y="20116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 PK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23774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image_name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26080" y="23774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743200"/>
            <a:ext cx="5029200" cy="347472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914400" y="27432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predicted_label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926080" y="27432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31089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confidence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926080" y="31089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3474720"/>
            <a:ext cx="5029200" cy="347472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914400" y="34747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all_predictions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926080" y="34747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" y="38404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model_name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926080" y="38404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1520" y="4206240"/>
            <a:ext cx="5029200" cy="347472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914400" y="42062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model_accuracy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926080" y="42062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14400" y="45720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created_at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926080" y="45720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TIMESTAMP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 — port 8501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6400800" y="2011680"/>
            <a:ext cx="5120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6400800" y="2011680"/>
            <a:ext cx="91440" cy="10972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6675120" y="2148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675120" y="25603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Upload image → MS2 (9001) → resultat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400800" y="3291840"/>
            <a:ext cx="5120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3" name="Shape 31"/>
          <p:cNvSpPr/>
          <p:nvPr/>
        </p:nvSpPr>
        <p:spPr>
          <a:xfrm>
            <a:off x="6400800" y="3291840"/>
            <a:ext cx="91440" cy="10972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6675120" y="3429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675120" y="38404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20 dernieres predictions depuis BDD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400800" y="4572000"/>
            <a:ext cx="5120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7" name="Shape 35"/>
          <p:cNvSpPr/>
          <p:nvPr/>
        </p:nvSpPr>
        <p:spPr>
          <a:xfrm>
            <a:off x="6400800" y="4572000"/>
            <a:ext cx="91440" cy="109728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6675120" y="4709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Statistiques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675120" y="51206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Compteurs, graphiques depuis BDD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31520" y="5486400"/>
            <a:ext cx="10698480" cy="1097280"/>
          </a:xfrm>
          <a:prstGeom prst="rect">
            <a:avLst/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1005840" y="56235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: Streamlit passe TOUJOURS par le Microservice 2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1005840" y="5989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90E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Upload image → Streamlit (8501) → MS2 (9001) → MS1 resize → API (8000) → prediction → BDD → resultat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005840" y="63093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C5D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Historique et statistiques : Streamlit lit directement PostgreSQL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technique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38560" y="3200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73152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26974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731520" y="1645920"/>
            <a:ext cx="2697480" cy="5943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914400" y="164592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Langages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24688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28346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3.3.7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35204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840" y="38862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3.11.5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457200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05840" y="49377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PostgreSQL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520440" y="1645920"/>
            <a:ext cx="26974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3520440" y="1645920"/>
            <a:ext cx="2697480" cy="5943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3703320" y="164592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794760" y="24688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Spark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794760" y="28346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3.5.1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794760" y="35204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794760" y="38862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columnar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794760" y="457200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794760" y="49377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 tool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309360" y="1645920"/>
            <a:ext cx="26974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6309360" y="1645920"/>
            <a:ext cx="2697480" cy="5943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6492240" y="164592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583680" y="24688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583680" y="28346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Keras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583680" y="35204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ResNet50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583680" y="38862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ImageNet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0" y="457200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583680" y="49377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ML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098280" y="1645920"/>
            <a:ext cx="26974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4" name="Shape 32"/>
          <p:cNvSpPr/>
          <p:nvPr/>
        </p:nvSpPr>
        <p:spPr>
          <a:xfrm>
            <a:off x="9098280" y="1645920"/>
            <a:ext cx="2697480" cy="594360"/>
          </a:xfrm>
          <a:prstGeom prst="rect">
            <a:avLst/>
          </a:prstGeom>
          <a:solidFill>
            <a:srgbClr val="993556"/>
          </a:solidFill>
          <a:ln w="12700">
            <a:solidFill>
              <a:srgbClr val="99355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9281160" y="164592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372600" y="24688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372600" y="28346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935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 8000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9372600" y="35204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372600" y="38862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935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 8501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372600" y="457200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15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9372600" y="49377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935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 5432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38560" y="3200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12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73152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Ordre de lancement du pipeline complet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965960"/>
            <a:ext cx="640080" cy="6400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731520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051560" y="2606040"/>
            <a:ext cx="0" cy="411480"/>
          </a:xfrm>
          <a:prstGeom prst="line">
            <a:avLst/>
          </a:prstGeom>
          <a:noFill/>
          <a:ln w="25400">
            <a:solidFill>
              <a:srgbClr val="E2E8F0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1554480" y="1874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Python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2240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Charge le modele (reste allume)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0" y="1965960"/>
            <a:ext cx="4572000" cy="548640"/>
          </a:xfrm>
          <a:prstGeom prst="rect">
            <a:avLst/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13" name="Text 11"/>
          <p:cNvSpPr/>
          <p:nvPr/>
        </p:nvSpPr>
        <p:spPr>
          <a:xfrm>
            <a:off x="5623560" y="196596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90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uvicorn api_model:app --port 8000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3154680"/>
            <a:ext cx="640080" cy="6400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731520" y="3154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1051560" y="3794760"/>
            <a:ext cx="0" cy="411480"/>
          </a:xfrm>
          <a:prstGeom prst="line">
            <a:avLst/>
          </a:prstGeom>
          <a:noFill/>
          <a:ln w="25400">
            <a:solidFill>
              <a:srgbClr val="E2E8F0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1554480" y="3063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 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554480" y="3429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Batch Spark + serveur port 9001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0" y="3154680"/>
            <a:ext cx="4572000" cy="548640"/>
          </a:xfrm>
          <a:prstGeom prst="rect">
            <a:avLst/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5623560" y="315468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90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cd microservice2 &amp;&amp; sbt run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31520" y="4343400"/>
            <a:ext cx="640080" cy="6400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731520" y="4343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1554480" y="4251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554480" y="4617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Interface web port 8501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0" y="4343400"/>
            <a:ext cx="4572000" cy="548640"/>
          </a:xfrm>
          <a:prstGeom prst="rect">
            <a:avLst/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5623560" y="434340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90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streamlit run app.py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0">
            <a:extLst>
              <a:ext uri="{FF2B5EF4-FFF2-40B4-BE49-F238E27FC236}">
                <a16:creationId xmlns:a16="http://schemas.microsoft.com/office/drawing/2014/main" id="{AE1CB57A-E057-4D38-BC7D-5C25BDC665D0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1">
            <a:extLst>
              <a:ext uri="{FF2B5EF4-FFF2-40B4-BE49-F238E27FC236}">
                <a16:creationId xmlns:a16="http://schemas.microsoft.com/office/drawing/2014/main" id="{E3C6EA58-5318-42C6-B9E2-9B17FBF10E9C}"/>
              </a:ext>
            </a:extLst>
          </p:cNvPr>
          <p:cNvSpPr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Streamlit — Resultats</a:t>
            </a:r>
            <a:endParaRPr lang="en-US" sz="3000" dirty="0"/>
          </a:p>
        </p:txBody>
      </p:sp>
      <p:sp>
        <p:nvSpPr>
          <p:cNvPr id="38" name="Text 2">
            <a:extLst>
              <a:ext uri="{FF2B5EF4-FFF2-40B4-BE49-F238E27FC236}">
                <a16:creationId xmlns:a16="http://schemas.microsoft.com/office/drawing/2014/main" id="{F16860B8-45E4-47D3-9749-FFE6AA6B4B6A}"/>
              </a:ext>
            </a:extLst>
          </p:cNvPr>
          <p:cNvSpPr/>
          <p:nvPr/>
        </p:nvSpPr>
        <p:spPr>
          <a:xfrm>
            <a:off x="11338560" y="3200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11</a:t>
            </a:r>
            <a:endParaRPr lang="en-US" sz="1400" dirty="0"/>
          </a:p>
        </p:txBody>
      </p:sp>
      <p:sp>
        <p:nvSpPr>
          <p:cNvPr id="39" name="Shape 3">
            <a:extLst>
              <a:ext uri="{FF2B5EF4-FFF2-40B4-BE49-F238E27FC236}">
                <a16:creationId xmlns:a16="http://schemas.microsoft.com/office/drawing/2014/main" id="{6EE9C1CD-1E64-4CB6-A487-22A73E7E2AC2}"/>
              </a:ext>
            </a:extLst>
          </p:cNvPr>
          <p:cNvSpPr/>
          <p:nvPr/>
        </p:nvSpPr>
        <p:spPr>
          <a:xfrm>
            <a:off x="548640" y="1005840"/>
            <a:ext cx="73152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Text 4">
            <a:extLst>
              <a:ext uri="{FF2B5EF4-FFF2-40B4-BE49-F238E27FC236}">
                <a16:creationId xmlns:a16="http://schemas.microsoft.com/office/drawing/2014/main" id="{C1437BD8-D141-4AB6-9E04-7961FD2AF280}"/>
              </a:ext>
            </a:extLst>
          </p:cNvPr>
          <p:cNvSpPr/>
          <p:nvPr/>
        </p:nvSpPr>
        <p:spPr>
          <a:xfrm>
            <a:off x="731520" y="1188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Predictions en temps reel via le Microservice 2</a:t>
            </a:r>
            <a:endParaRPr lang="en-US" sz="1600" dirty="0"/>
          </a:p>
        </p:txBody>
      </p:sp>
      <p:pic>
        <p:nvPicPr>
          <p:cNvPr id="41" name="Image 0" descr="/home/claude/ss_rain.png">
            <a:extLst>
              <a:ext uri="{FF2B5EF4-FFF2-40B4-BE49-F238E27FC236}">
                <a16:creationId xmlns:a16="http://schemas.microsoft.com/office/drawing/2014/main" id="{57338FBC-9017-42D6-9590-3C6B070D2CA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1520" y="1737360"/>
            <a:ext cx="5303520" cy="2011680"/>
          </a:xfrm>
          <a:prstGeom prst="rect">
            <a:avLst/>
          </a:prstGeom>
        </p:spPr>
      </p:pic>
      <p:sp>
        <p:nvSpPr>
          <p:cNvPr id="42" name="Text 5">
            <a:extLst>
              <a:ext uri="{FF2B5EF4-FFF2-40B4-BE49-F238E27FC236}">
                <a16:creationId xmlns:a16="http://schemas.microsoft.com/office/drawing/2014/main" id="{FC20B911-EA09-42BF-928D-29E7415937DF}"/>
              </a:ext>
            </a:extLst>
          </p:cNvPr>
          <p:cNvSpPr/>
          <p:nvPr/>
        </p:nvSpPr>
        <p:spPr>
          <a:xfrm>
            <a:off x="731520" y="37947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— 99.34%</a:t>
            </a:r>
            <a:endParaRPr lang="en-US" sz="1200" dirty="0"/>
          </a:p>
        </p:txBody>
      </p:sp>
      <p:pic>
        <p:nvPicPr>
          <p:cNvPr id="43" name="Image 1" descr="/home/claude/ss_lightning.png">
            <a:extLst>
              <a:ext uri="{FF2B5EF4-FFF2-40B4-BE49-F238E27FC236}">
                <a16:creationId xmlns:a16="http://schemas.microsoft.com/office/drawing/2014/main" id="{7FBC05AA-96F9-4E6F-88D3-EC4371DC48A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309360" y="1737360"/>
            <a:ext cx="5303520" cy="2011680"/>
          </a:xfrm>
          <a:prstGeom prst="rect">
            <a:avLst/>
          </a:prstGeom>
        </p:spPr>
      </p:pic>
      <p:sp>
        <p:nvSpPr>
          <p:cNvPr id="44" name="Text 6">
            <a:extLst>
              <a:ext uri="{FF2B5EF4-FFF2-40B4-BE49-F238E27FC236}">
                <a16:creationId xmlns:a16="http://schemas.microsoft.com/office/drawing/2014/main" id="{7A75BD1F-6DBA-4748-934F-0B145E5CD788}"/>
              </a:ext>
            </a:extLst>
          </p:cNvPr>
          <p:cNvSpPr/>
          <p:nvPr/>
        </p:nvSpPr>
        <p:spPr>
          <a:xfrm>
            <a:off x="6309360" y="37947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Lightning — 100%</a:t>
            </a:r>
            <a:endParaRPr lang="en-US" sz="1200" dirty="0"/>
          </a:p>
        </p:txBody>
      </p:sp>
      <p:pic>
        <p:nvPicPr>
          <p:cNvPr id="45" name="Image 2" descr="/home/claude/ss_fogsmog.png">
            <a:extLst>
              <a:ext uri="{FF2B5EF4-FFF2-40B4-BE49-F238E27FC236}">
                <a16:creationId xmlns:a16="http://schemas.microsoft.com/office/drawing/2014/main" id="{7479769E-0971-49F6-9FD2-90398878E2F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31520" y="4206240"/>
            <a:ext cx="5303520" cy="2011680"/>
          </a:xfrm>
          <a:prstGeom prst="rect">
            <a:avLst/>
          </a:prstGeom>
        </p:spPr>
      </p:pic>
      <p:sp>
        <p:nvSpPr>
          <p:cNvPr id="46" name="Text 7">
            <a:extLst>
              <a:ext uri="{FF2B5EF4-FFF2-40B4-BE49-F238E27FC236}">
                <a16:creationId xmlns:a16="http://schemas.microsoft.com/office/drawing/2014/main" id="{7C35C2C1-DD28-4B60-AAB3-CCFA20DC93DE}"/>
              </a:ext>
            </a:extLst>
          </p:cNvPr>
          <p:cNvSpPr/>
          <p:nvPr/>
        </p:nvSpPr>
        <p:spPr>
          <a:xfrm>
            <a:off x="731520" y="62636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Fogsmog — 99.52%</a:t>
            </a:r>
            <a:endParaRPr lang="en-US" sz="1200" dirty="0"/>
          </a:p>
        </p:txBody>
      </p:sp>
      <p:pic>
        <p:nvPicPr>
          <p:cNvPr id="47" name="Image 3" descr="/home/claude/ss_snow.png">
            <a:extLst>
              <a:ext uri="{FF2B5EF4-FFF2-40B4-BE49-F238E27FC236}">
                <a16:creationId xmlns:a16="http://schemas.microsoft.com/office/drawing/2014/main" id="{A30B3FE8-FCD8-4C23-BD2A-CED779351D5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309360" y="4206240"/>
            <a:ext cx="5303520" cy="2011680"/>
          </a:xfrm>
          <a:prstGeom prst="rect">
            <a:avLst/>
          </a:prstGeom>
        </p:spPr>
      </p:pic>
      <p:sp>
        <p:nvSpPr>
          <p:cNvPr id="48" name="Text 8">
            <a:extLst>
              <a:ext uri="{FF2B5EF4-FFF2-40B4-BE49-F238E27FC236}">
                <a16:creationId xmlns:a16="http://schemas.microsoft.com/office/drawing/2014/main" id="{C2914F28-4C02-4232-A43B-A1E2BC00DEA3}"/>
              </a:ext>
            </a:extLst>
          </p:cNvPr>
          <p:cNvSpPr/>
          <p:nvPr/>
        </p:nvSpPr>
        <p:spPr>
          <a:xfrm>
            <a:off x="6309360" y="62636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 — 99.95%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0664268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Resultats et conclusion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38560" y="3200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13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73152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25603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731520" y="1645920"/>
            <a:ext cx="91440" cy="14630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914400" y="17830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914400" y="2560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Accuracy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0" y="1645920"/>
            <a:ext cx="25603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3474720" y="1645920"/>
            <a:ext cx="91440" cy="1463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657600" y="17830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6 862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3657600" y="2560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Images traitees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17920" y="1645920"/>
            <a:ext cx="25603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6217920" y="1645920"/>
            <a:ext cx="91440" cy="14630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6400800" y="17830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6400800" y="2560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Classes meteo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961120" y="1645920"/>
            <a:ext cx="25603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8961120" y="1645920"/>
            <a:ext cx="91440" cy="146304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9144000" y="17830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4200" dirty="0"/>
          </a:p>
        </p:txBody>
      </p:sp>
      <p:sp>
        <p:nvSpPr>
          <p:cNvPr id="21" name="Text 19"/>
          <p:cNvSpPr/>
          <p:nvPr/>
        </p:nvSpPr>
        <p:spPr>
          <a:xfrm>
            <a:off x="9144000" y="2560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APIs Spark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1520" y="3474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nous avons appris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731520" y="4187952"/>
            <a:ext cx="320040" cy="32004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1234440" y="4114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Programmation fonctionnelle en Scala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234440" y="44805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Case classes, pattern matching, immutabilite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309360" y="4187952"/>
            <a:ext cx="320040" cy="32004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6812280" y="4114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Manipulation de Spark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812280" y="44805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DataFrames, SQL, APIs de transformation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31520" y="5148072"/>
            <a:ext cx="320040" cy="32004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1234440" y="50749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microservices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234440" y="54406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Separation des responsabilites, reutilisation du code, serveur HTTP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309360" y="5148072"/>
            <a:ext cx="320040" cy="32004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6812280" y="50749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ML complet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812280" y="54406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Du pretraitement a l'interface utilisateur, en passant par l'entrainement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914400"/>
            <a:ext cx="3657600" cy="3657600"/>
          </a:xfrm>
          <a:prstGeom prst="ellipse">
            <a:avLst/>
          </a:prstGeom>
          <a:solidFill>
            <a:srgbClr val="065A82">
              <a:alpha val="60000"/>
            </a:srgbClr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-914400" y="3657600"/>
            <a:ext cx="2743200" cy="2743200"/>
          </a:xfrm>
          <a:prstGeom prst="ellipse">
            <a:avLst/>
          </a:prstGeom>
          <a:solidFill>
            <a:srgbClr val="1C7293">
              <a:alpha val="40000"/>
            </a:srgbClr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10058400" y="4572000"/>
            <a:ext cx="2286000" cy="2286000"/>
          </a:xfrm>
          <a:prstGeom prst="ellipse">
            <a:avLst/>
          </a:prstGeom>
          <a:solidFill>
            <a:srgbClr val="4A90E2">
              <a:alpha val="30000"/>
            </a:srgbClr>
          </a:solidFill>
          <a:ln w="12700">
            <a:solidFill>
              <a:srgbClr val="4A90E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0" y="2286000"/>
            <a:ext cx="12161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</a:t>
            </a:r>
            <a:endParaRPr lang="en-US" sz="14000" dirty="0"/>
          </a:p>
        </p:txBody>
      </p:sp>
      <p:sp>
        <p:nvSpPr>
          <p:cNvPr id="6" name="Shape 4"/>
          <p:cNvSpPr/>
          <p:nvPr/>
        </p:nvSpPr>
        <p:spPr>
          <a:xfrm>
            <a:off x="5623560" y="4297680"/>
            <a:ext cx="914400" cy="45720"/>
          </a:xfrm>
          <a:prstGeom prst="rect">
            <a:avLst/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0" y="4572000"/>
            <a:ext cx="1216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i="1" dirty="0">
                <a:solidFill>
                  <a:srgbClr val="4A90E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Des questions ?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0" y="6309360"/>
            <a:ext cx="1216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300" dirty="0">
                <a:solidFill>
                  <a:srgbClr val="6B7B8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Weather Image Recognition | Module Scala |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842</TotalTime>
  <Words>1023</Words>
  <Application>Microsoft Office PowerPoint</Application>
  <PresentationFormat>Grand écran</PresentationFormat>
  <Paragraphs>278</Paragraphs>
  <Slides>14</Slides>
  <Notes>14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Consolas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Weather Image Recognition - Soutenance</dc:title>
  <dc:subject>PptxGenJS Presentation</dc:subject>
  <dc:creator>Equipe Weather Recognition</dc:creator>
  <cp:lastModifiedBy>Khaoula Chetioui</cp:lastModifiedBy>
  <cp:revision>13</cp:revision>
  <dcterms:created xsi:type="dcterms:W3CDTF">2026-04-17T22:21:58Z</dcterms:created>
  <dcterms:modified xsi:type="dcterms:W3CDTF">2026-04-20T12:32:19Z</dcterms:modified>
</cp:coreProperties>
</file>